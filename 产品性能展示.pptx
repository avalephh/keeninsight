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97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a:ea="Noto Sans CJK SC">
                <a:solidFill>
                  <a:srgbClr val="9EBEEB"/>
                </a:solidFill>
                <a:latin typeface="Noto Sans CJK SC"/>
              </a:rPr>
              <a:t>PERFORMANCE SHOWCASE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8346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a:ea="Noto Sans CJK SC">
                <a:solidFill>
                  <a:srgbClr val="FFFFFF"/>
                </a:solidFill>
                <a:latin typeface="Noto Sans CJK SC"/>
              </a:rPr>
              <a:t>产品功效｜从外部压力到可验证恢复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1323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a:ea="Noto Sans CJK SC">
                <a:solidFill>
                  <a:srgbClr val="C1CFE4"/>
                </a:solidFill>
                <a:latin typeface="Noto Sans CJK SC"/>
              </a:rPr>
              <a:t>PostgreSQL 12.22 + TPCC 本机实测  ·  真实 GPT API 配置  ·  结果来自已保存的复测证据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34440"/>
            <a:ext cx="1975104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34440"/>
            <a:ext cx="1975104" cy="73152"/>
          </a:xfrm>
          <a:prstGeom prst="rect">
            <a:avLst/>
          </a:prstGeom>
          <a:solidFill>
            <a:srgbClr val="3070DD"/>
          </a:solidFill>
          <a:ln w="8890">
            <a:solidFill>
              <a:srgbClr val="307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07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3070DD"/>
                </a:solidFill>
                <a:latin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外部压力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 a:ea="Noto Sans CJK SC">
                <a:solidFill>
                  <a:srgbClr val="5B6C84"/>
                </a:solidFill>
                <a:latin typeface="Noto Sans CJK SC"/>
              </a:rPr>
              <a:t>TPCC 持续负载
报表 / 连接 / 并行
进入同一数据库</a:t>
            </a:r>
          </a:p>
        </p:txBody>
      </p:sp>
      <p:sp>
        <p:nvSpPr>
          <p:cNvPr id="11" name="Chevron 10"/>
          <p:cNvSpPr/>
          <p:nvPr/>
        </p:nvSpPr>
        <p:spPr>
          <a:xfrm>
            <a:off x="2505456" y="1746504"/>
            <a:ext cx="182880" cy="283464"/>
          </a:xfrm>
          <a:prstGeom prst="chevron">
            <a:avLst/>
          </a:prstGeom>
          <a:solidFill>
            <a:srgbClr val="B2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0632" y="1234440"/>
            <a:ext cx="1975104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234440"/>
            <a:ext cx="1975104" cy="73152"/>
          </a:xfrm>
          <a:prstGeom prst="rect">
            <a:avLst/>
          </a:prstGeom>
          <a:solidFill>
            <a:srgbClr val="24A8B9"/>
          </a:solidFill>
          <a:ln w="8890">
            <a:solidFill>
              <a:srgbClr val="24A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13807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24A8B9"/>
                </a:solidFill>
                <a:latin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3" y="158191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可观测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3" y="1901952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 a:ea="Noto Sans CJK SC">
                <a:solidFill>
                  <a:srgbClr val="5B6C84"/>
                </a:solidFill>
                <a:latin typeface="Noto Sans CJK SC"/>
              </a:rPr>
              <a:t>Prometheus 告警
触发 perf 采样
捕获真实热点</a:t>
            </a:r>
          </a:p>
        </p:txBody>
      </p:sp>
      <p:sp>
        <p:nvSpPr>
          <p:cNvPr id="17" name="Chevron 16"/>
          <p:cNvSpPr/>
          <p:nvPr/>
        </p:nvSpPr>
        <p:spPr>
          <a:xfrm>
            <a:off x="4800600" y="1746504"/>
            <a:ext cx="182880" cy="283464"/>
          </a:xfrm>
          <a:prstGeom prst="chevron">
            <a:avLst/>
          </a:prstGeom>
          <a:solidFill>
            <a:srgbClr val="B2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6" y="1234440"/>
            <a:ext cx="1975104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5776" y="1234440"/>
            <a:ext cx="1975104" cy="73152"/>
          </a:xfrm>
          <a:prstGeom prst="rect">
            <a:avLst/>
          </a:prstGeom>
          <a:solidFill>
            <a:srgbClr val="E8842A"/>
          </a:solidFill>
          <a:ln w="8890">
            <a:solidFill>
              <a:srgbClr val="E8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13807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E8842A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158191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原始检测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1901952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 a:ea="Noto Sans CJK SC">
                <a:solidFill>
                  <a:srgbClr val="5B6C84"/>
                </a:solidFill>
                <a:latin typeface="Noto Sans CJK SC"/>
              </a:rPr>
              <a:t>SysInsight 原始函数
做源函数关联
形成 5 个候选</a:t>
            </a:r>
          </a:p>
        </p:txBody>
      </p:sp>
      <p:sp>
        <p:nvSpPr>
          <p:cNvPr id="23" name="Chevron 22"/>
          <p:cNvSpPr/>
          <p:nvPr/>
        </p:nvSpPr>
        <p:spPr>
          <a:xfrm>
            <a:off x="7095744" y="1746504"/>
            <a:ext cx="182880" cy="283464"/>
          </a:xfrm>
          <a:prstGeom prst="chevron">
            <a:avLst/>
          </a:prstGeom>
          <a:solidFill>
            <a:srgbClr val="B2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1234440"/>
            <a:ext cx="1975104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234440"/>
            <a:ext cx="1975104" cy="73152"/>
          </a:xfrm>
          <a:prstGeom prst="rect">
            <a:avLst/>
          </a:prstGeom>
          <a:solidFill>
            <a:srgbClr val="7D5BBF"/>
          </a:solidFill>
          <a:ln w="8890">
            <a:solidFill>
              <a:srgbClr val="7D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13807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7D5BBF"/>
                </a:solidFill>
                <a:latin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158191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API 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1901952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 a:ea="Noto Sans CJK SC">
                <a:solidFill>
                  <a:srgbClr val="5B6C84"/>
                </a:solidFill>
                <a:latin typeface="Noto Sans CJK SC"/>
              </a:rPr>
              <a:t>调用 GPT API
解析 response
选择 1 个配置</a:t>
            </a:r>
          </a:p>
        </p:txBody>
      </p:sp>
      <p:sp>
        <p:nvSpPr>
          <p:cNvPr id="29" name="Chevron 28"/>
          <p:cNvSpPr/>
          <p:nvPr/>
        </p:nvSpPr>
        <p:spPr>
          <a:xfrm>
            <a:off x="9390888" y="1746504"/>
            <a:ext cx="182880" cy="283464"/>
          </a:xfrm>
          <a:prstGeom prst="chevron">
            <a:avLst/>
          </a:prstGeom>
          <a:solidFill>
            <a:srgbClr val="B2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6064" y="1234440"/>
            <a:ext cx="1975104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6064" y="1234440"/>
            <a:ext cx="1975104" cy="73152"/>
          </a:xfrm>
          <a:prstGeom prst="rect">
            <a:avLst/>
          </a:prstGeom>
          <a:solidFill>
            <a:srgbClr val="1B9C6F"/>
          </a:solidFill>
          <a:ln w="8890">
            <a:solidFill>
              <a:srgbClr val="1B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4936" y="13807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1B9C6F"/>
                </a:solidFill>
                <a:latin typeface="Noto Sans CJK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4936" y="158191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应用复测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4936" y="1901952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 a:ea="Noto Sans CJK SC">
                <a:solidFill>
                  <a:srgbClr val="5B6C84"/>
                </a:solidFill>
                <a:latin typeface="Noto Sans CJK SC"/>
              </a:rPr>
              <a:t>临时会话应用
TPCC 控制复测
恢复后还原配置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852928"/>
            <a:ext cx="11228832" cy="475488"/>
          </a:xfrm>
          <a:prstGeom prst="round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944368"/>
            <a:ext cx="108447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i="0" a:ea="Noto Sans CJK SC">
                <a:solidFill>
                  <a:srgbClr val="FFFFFF"/>
                </a:solidFill>
                <a:latin typeface="Noto Sans CJK SC"/>
              </a:rPr>
              <a:t>产品功效：发现  →  归因  →  生成  →  应用  →  复测；把外部压力导致的退化变成可解释、可验证的调优闭环。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3547872"/>
            <a:ext cx="2587752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" y="3547872"/>
            <a:ext cx="82296" cy="987552"/>
          </a:xfrm>
          <a:prstGeom prst="rect">
            <a:avLst/>
          </a:prstGeom>
          <a:solidFill>
            <a:srgbClr val="3070DD"/>
          </a:solidFill>
          <a:ln w="8890">
            <a:solidFill>
              <a:srgbClr val="307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657600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3070DD"/>
                </a:solidFill>
                <a:latin typeface="Noto Sans CJK S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410565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 a:ea="Noto Sans CJK SC">
                <a:solidFill>
                  <a:srgbClr val="5B6C84"/>
                </a:solidFill>
                <a:latin typeface="Noto Sans CJK SC"/>
              </a:rPr>
              <a:t>纳入展示的实测场景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82696" y="3547872"/>
            <a:ext cx="2587752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82696" y="3547872"/>
            <a:ext cx="82296" cy="987552"/>
          </a:xfrm>
          <a:prstGeom prst="rect">
            <a:avLst/>
          </a:prstGeom>
          <a:solidFill>
            <a:srgbClr val="1B9C6F"/>
          </a:solidFill>
          <a:ln w="8890">
            <a:solidFill>
              <a:srgbClr val="1B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65576" y="3657600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 a:ea="Noto Sans CJK SC">
                <a:solidFill>
                  <a:srgbClr val="1B9C6F"/>
                </a:solidFill>
                <a:latin typeface="Noto Sans CJK SC"/>
              </a:rPr>
              <a:t>6 /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10565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 a:ea="Noto Sans CJK SC">
                <a:solidFill>
                  <a:srgbClr val="5B6C84"/>
                </a:solidFill>
                <a:latin typeface="Noto Sans CJK SC"/>
              </a:rPr>
              <a:t>压力下降、修复上升均超过 20%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9904" y="3547872"/>
            <a:ext cx="2587752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3547872"/>
            <a:ext cx="82296" cy="987552"/>
          </a:xfrm>
          <a:prstGeom prst="rect">
            <a:avLst/>
          </a:prstGeom>
          <a:solidFill>
            <a:srgbClr val="E8842A"/>
          </a:solidFill>
          <a:ln w="8890">
            <a:solidFill>
              <a:srgbClr val="E8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2784" y="3657600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 a:ea="Noto Sans CJK SC">
                <a:solidFill>
                  <a:srgbClr val="E8842A"/>
                </a:solidFill>
                <a:latin typeface="Noto Sans CJK SC"/>
              </a:rPr>
              <a:t>5 →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10565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 a:ea="Noto Sans CJK SC">
                <a:solidFill>
                  <a:srgbClr val="5B6C84"/>
                </a:solidFill>
                <a:latin typeface="Noto Sans CJK SC"/>
              </a:rPr>
              <a:t>候选配置经原始选择函数收敛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97111" y="3547872"/>
            <a:ext cx="2587752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97111" y="3547872"/>
            <a:ext cx="82296" cy="987552"/>
          </a:xfrm>
          <a:prstGeom prst="rect">
            <a:avLst/>
          </a:prstGeom>
          <a:solidFill>
            <a:srgbClr val="24A8B9"/>
          </a:solidFill>
          <a:ln w="8890">
            <a:solidFill>
              <a:srgbClr val="24A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1" y="3657600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 a:ea="Noto Sans CJK SC">
                <a:solidFill>
                  <a:srgbClr val="24A8B9"/>
                </a:solidFill>
                <a:latin typeface="Noto Sans CJK SC"/>
              </a:rPr>
              <a:t>123.96%–219.42%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43415" y="4105656"/>
            <a:ext cx="23042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 a:ea="Noto Sans CJK SC">
                <a:solidFill>
                  <a:srgbClr val="5B6C84"/>
                </a:solidFill>
                <a:latin typeface="Noto Sans CJK SC"/>
              </a:rPr>
              <a:t>修复后 TPS ÷ 压力阶段 TPS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" y="4800600"/>
            <a:ext cx="112288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95604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a:ea="Noto Sans CJK SC">
                <a:solidFill>
                  <a:srgbClr val="1C2A42"/>
                </a:solidFill>
                <a:latin typeface="Noto Sans CJK SC"/>
              </a:rPr>
              <a:t>六组简单均值（TPS）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212080"/>
            <a:ext cx="2240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a:ea="Noto Sans CJK SC">
                <a:solidFill>
                  <a:srgbClr val="5B6C84"/>
                </a:solidFill>
                <a:latin typeface="Noto Sans CJK SC"/>
              </a:rPr>
              <a:t>仅作展示汇总；单场景数据见下一页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7168" y="4937760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0" i="0" a:ea="Noto Sans CJK SC">
                <a:solidFill>
                  <a:srgbClr val="5B6C84"/>
                </a:solidFill>
                <a:latin typeface="Noto Sans CJK SC"/>
              </a:rPr>
              <a:t>基线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4974336"/>
            <a:ext cx="7818120" cy="146304"/>
          </a:xfrm>
          <a:prstGeom prst="rect">
            <a:avLst/>
          </a:prstGeom>
          <a:solidFill>
            <a:srgbClr val="EFF3F8"/>
          </a:solidFill>
          <a:ln w="8890"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63240" y="4974336"/>
            <a:ext cx="7818120" cy="146304"/>
          </a:xfrm>
          <a:prstGeom prst="rect">
            <a:avLst/>
          </a:prstGeom>
          <a:solidFill>
            <a:srgbClr val="3070DD"/>
          </a:solidFill>
          <a:ln w="8890">
            <a:solidFill>
              <a:srgbClr val="307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91088" y="4928616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3070DD"/>
                </a:solidFill>
                <a:latin typeface="Noto Sans CJK SC"/>
              </a:rPr>
              <a:t>7,331.93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87168" y="528523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0" i="0" a:ea="Noto Sans CJK SC">
                <a:solidFill>
                  <a:srgbClr val="5B6C84"/>
                </a:solidFill>
                <a:latin typeface="Noto Sans CJK SC"/>
              </a:rPr>
              <a:t>外部压力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5321808"/>
            <a:ext cx="7818120" cy="146304"/>
          </a:xfrm>
          <a:prstGeom prst="rect">
            <a:avLst/>
          </a:prstGeom>
          <a:solidFill>
            <a:srgbClr val="EFF3F8"/>
          </a:solidFill>
          <a:ln w="8890"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63240" y="5321808"/>
            <a:ext cx="2896987" cy="146304"/>
          </a:xfrm>
          <a:prstGeom prst="rect">
            <a:avLst/>
          </a:prstGeom>
          <a:solidFill>
            <a:srgbClr val="D5534F"/>
          </a:solidFill>
          <a:ln w="889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91088" y="5276088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D5534F"/>
                </a:solidFill>
                <a:latin typeface="Noto Sans CJK SC"/>
              </a:rPr>
              <a:t>2,716.83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87168" y="563270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0" i="0" a:ea="Noto Sans CJK SC">
                <a:solidFill>
                  <a:srgbClr val="5B6C84"/>
                </a:solidFill>
                <a:latin typeface="Noto Sans CJK SC"/>
              </a:rPr>
              <a:t>API 修复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63240" y="5669280"/>
            <a:ext cx="7818120" cy="146304"/>
          </a:xfrm>
          <a:prstGeom prst="rect">
            <a:avLst/>
          </a:prstGeom>
          <a:solidFill>
            <a:srgbClr val="EFF3F8"/>
          </a:solidFill>
          <a:ln w="8890"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63240" y="5669280"/>
            <a:ext cx="4659581" cy="146304"/>
          </a:xfrm>
          <a:prstGeom prst="rect">
            <a:avLst/>
          </a:prstGeom>
          <a:solidFill>
            <a:srgbClr val="1B9C6F"/>
          </a:solidFill>
          <a:ln w="8890">
            <a:solidFill>
              <a:srgbClr val="1B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91088" y="5623560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a:ea="Noto Sans CJK SC">
                <a:solidFill>
                  <a:srgbClr val="1B9C6F"/>
                </a:solidFill>
                <a:latin typeface="Noto Sans CJK SC"/>
              </a:rPr>
              <a:t>4,369.81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6007608"/>
            <a:ext cx="10744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a:ea="Noto Sans CJK SC">
                <a:solidFill>
                  <a:srgbClr val="5B6C84"/>
                </a:solidFill>
                <a:latin typeface="Noto Sans CJK SC"/>
              </a:rPr>
              <a:t>恢复不是“回到基线”的承诺：本页指标表达的是相对压力阶段的 TPS 恢复比例；每组配置由真实 API response 解析得到。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6601968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0" b="0" i="0" a:ea="Noto Sans CJK SC">
                <a:solidFill>
                  <a:srgbClr val="5B6C84"/>
                </a:solidFill>
                <a:latin typeface="Noto Sans CJK SC"/>
              </a:rPr>
              <a:t>实测环境：本机 PostgreSQL 12.22 / keeninsight_tpcc / TPCC；数据证据：tpcc_api_validation 六组 case_result.json + sysinsight_api/result.json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97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a:ea="Noto Sans CJK SC">
                <a:solidFill>
                  <a:srgbClr val="9EBEEB"/>
                </a:solidFill>
                <a:latin typeface="Noto Sans CJK SC"/>
              </a:rPr>
              <a:t>PERFORMANCE SHOWCASE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8346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a:ea="Noto Sans CJK SC">
                <a:solidFill>
                  <a:srgbClr val="FFFFFF"/>
                </a:solidFill>
                <a:latin typeface="Noto Sans CJK SC"/>
              </a:rPr>
              <a:t>六类压力场景｜压力特征 × 恢复方法 × 实测比例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1323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a:ea="Noto Sans CJK SC">
                <a:solidFill>
                  <a:srgbClr val="C1CFE4"/>
                </a:solidFill>
                <a:latin typeface="Noto Sans CJK SC"/>
              </a:rPr>
              <a:t>每一行都是一次真实 API 配置链路：5 个候选配置 → 原始选择函数选 1 个 → 临时应用 → TPCC 控制复测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1572768" cy="384048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79576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a:ea="Noto Sans CJK SC">
                <a:solidFill>
                  <a:srgbClr val="FFFFFF"/>
                </a:solidFill>
                <a:latin typeface="Noto Sans CJK SC"/>
              </a:rPr>
              <a:t>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5104" y="1115568"/>
            <a:ext cx="2907792" cy="384048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0824" y="1179576"/>
            <a:ext cx="2816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a:ea="Noto Sans CJK SC">
                <a:solidFill>
                  <a:srgbClr val="FFFFFF"/>
                </a:solidFill>
                <a:latin typeface="Noto Sans CJK SC"/>
              </a:rPr>
              <a:t>外部压力特征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184" y="1115568"/>
            <a:ext cx="3401568" cy="384048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117957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a:ea="Noto Sans CJK SC">
                <a:solidFill>
                  <a:srgbClr val="FFFFFF"/>
                </a:solidFill>
                <a:latin typeface="Noto Sans CJK SC"/>
              </a:rPr>
              <a:t>恢复方法 / API 关键配置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115568"/>
            <a:ext cx="2395728" cy="384048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179576"/>
            <a:ext cx="23042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a:ea="Noto Sans CJK SC">
                <a:solidFill>
                  <a:srgbClr val="FFFFFF"/>
                </a:solidFill>
                <a:latin typeface="Noto Sans CJK SC"/>
              </a:rPr>
              <a:t>控制 TPS：基线 → 压力 → 修复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35056" y="1115568"/>
            <a:ext cx="841248" cy="384048"/>
          </a:xfrm>
          <a:prstGeom prst="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0776" y="1179576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a:ea="Noto Sans CJK SC">
                <a:solidFill>
                  <a:srgbClr val="FFFFFF"/>
                </a:solidFill>
                <a:latin typeface="Noto Sans CJK SC"/>
              </a:rPr>
              <a:t>恢复比例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545336"/>
            <a:ext cx="15727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1545336"/>
            <a:ext cx="73152" cy="713232"/>
          </a:xfrm>
          <a:prstGeom prst="rect">
            <a:avLst/>
          </a:prstGeom>
          <a:solidFill>
            <a:srgbClr val="3070DD"/>
          </a:solidFill>
          <a:ln w="8890">
            <a:solidFill>
              <a:srgbClr val="307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163677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3070DD"/>
                </a:solidFill>
                <a:latin typeface="Noto Sans CJK SC"/>
              </a:rPr>
              <a:t>D01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1847088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订单金额全量排序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5104" y="1545336"/>
            <a:ext cx="290779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1636776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全量排序与 TPCC 点查询并发；排序/哈希工作区被外部报表占用
压力后保留 32.00%（下降 68.00%）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1184" y="1545336"/>
            <a:ext cx="34015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61848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主要调整：work_mem 4096→12289 kB
目的：增加排序/哈希工作区，缓解外部报表的内存竞争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545336"/>
            <a:ext cx="23957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627632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7,336.58
→ 2,347.41
→ 4,919.46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35056" y="1545336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53344" y="1746504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209.57%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2290572"/>
            <a:ext cx="15727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2290572"/>
            <a:ext cx="73152" cy="713232"/>
          </a:xfrm>
          <a:prstGeom prst="rect">
            <a:avLst/>
          </a:prstGeom>
          <a:solidFill>
            <a:srgbClr val="24A8B9"/>
          </a:solidFill>
          <a:ln w="8890">
            <a:solidFill>
              <a:srgbClr val="24A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238201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24A8B9"/>
                </a:solidFill>
                <a:latin typeface="Noto Sans CJK SC"/>
              </a:rPr>
              <a:t>D05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2592324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高基数聚合/结果传输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75104" y="2290572"/>
            <a:ext cx="2907792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382012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商品汇总产生大量分组结果；并行结果传输与 OLTP 争用
压力后保留 27.50%（下降 72.50%）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1184" y="2290572"/>
            <a:ext cx="34015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363724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主要调整：parallel_tuple_cost 0.1→0.137
目的：提高并行结果传输成本，避免高基数结果不必要地并行传输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290572"/>
            <a:ext cx="239572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372868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7,342.66
→ 2,019.24
→ 3,778.01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35056" y="2290572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53344" y="2491740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187.10%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035808"/>
            <a:ext cx="15727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035808"/>
            <a:ext cx="73152" cy="713232"/>
          </a:xfrm>
          <a:prstGeom prst="rect">
            <a:avLst/>
          </a:prstGeom>
          <a:solidFill>
            <a:srgbClr val="E8842A"/>
          </a:solidFill>
          <a:ln w="8890">
            <a:solidFill>
              <a:srgbClr val="E8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" y="3127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E8842A"/>
                </a:solidFill>
                <a:latin typeface="Noto Sans CJK SC"/>
              </a:rPr>
              <a:t>D06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3337560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重复聚合/启动开销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75104" y="3035808"/>
            <a:ext cx="290779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127248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报表连续重复提交；并行 worker 启动与建链开销叠加
压力后保留 26.01%（下降 73.99%）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01184" y="3035808"/>
            <a:ext cx="34015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3108960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主要调整：parallel_setup_cost 1000→1537
目的：提高并行启动成本，压低重复报表频繁启动 worker 的开销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035808"/>
            <a:ext cx="23957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3118103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7,342.66
→ 1,909.85
→ 2,554.44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35056" y="3035808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53344" y="3236976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133.75%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3781044"/>
            <a:ext cx="15727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3781044"/>
            <a:ext cx="73152" cy="713232"/>
          </a:xfrm>
          <a:prstGeom prst="rect">
            <a:avLst/>
          </a:prstGeom>
          <a:solidFill>
            <a:srgbClr val="7D5BBF"/>
          </a:solidFill>
          <a:ln w="8890">
            <a:solidFill>
              <a:srgbClr val="7D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7" y="38724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7D5BBF"/>
                </a:solidFill>
                <a:latin typeface="Noto Sans CJK SC"/>
              </a:rPr>
              <a:t>D08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7" y="4082796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大表连接/worker 争用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75104" y="3781044"/>
            <a:ext cx="2907792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872483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订单明细×商品表集中扫描；争用全局并行工作进程
压力后保留 26.59%（下降 73.41%）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1184" y="3781044"/>
            <a:ext cx="34015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3854196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主要调整：max_parallel_workers_per_gather 2→1
目的：降低单查询并行 worker 上限，减少全局并行进程争用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3781044"/>
            <a:ext cx="239572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3863339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7,342.66
→ 1,952.46
→ 2,577.67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35056" y="3781044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3344" y="3982211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132.02%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" y="4526280"/>
            <a:ext cx="15727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84048" y="4526280"/>
            <a:ext cx="73152" cy="713232"/>
          </a:xfrm>
          <a:prstGeom prst="rect">
            <a:avLst/>
          </a:prstGeom>
          <a:solidFill>
            <a:srgbClr val="D5534F"/>
          </a:solidFill>
          <a:ln w="889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7" y="461772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D5534F"/>
                </a:solidFill>
                <a:latin typeface="Noto Sans CJK SC"/>
              </a:rPr>
              <a:t>C05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" y="4828032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复杂表达式/JIT 编译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75104" y="4526280"/>
            <a:ext cx="290779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617720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复杂表达式查询触发 JIT 编译/优化成本；短事务被拖慢
压力后保留 34.14%（下降 65.86%）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01184" y="4526280"/>
            <a:ext cx="34015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83480" y="4599432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主要调整：jit on→off; jit_above_cost 100000→127003
目的：关闭 JIT 并提高 JIT 触发阈值，避免短事务承担编译/优化开销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4526280"/>
            <a:ext cx="23957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4608576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7,313.52
→ 2,496.66
→ 5,478.16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35056" y="4526280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53344" y="4727448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219.42%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" y="5271516"/>
            <a:ext cx="15727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4048" y="5271516"/>
            <a:ext cx="73152" cy="713232"/>
          </a:xfrm>
          <a:prstGeom prst="rect">
            <a:avLst/>
          </a:prstGeom>
          <a:solidFill>
            <a:srgbClr val="1B9C6F"/>
          </a:solidFill>
          <a:ln w="8890">
            <a:solidFill>
              <a:srgbClr val="1B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1207" y="53629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a:ea="Noto Sans CJK SC">
                <a:solidFill>
                  <a:srgbClr val="1B9C6F"/>
                </a:solidFill>
                <a:latin typeface="Noto Sans CJK SC"/>
              </a:rPr>
              <a:t>C19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7" y="5573268"/>
            <a:ext cx="13441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 a:ea="Noto Sans CJK SC">
                <a:solidFill>
                  <a:srgbClr val="1C2A42"/>
                </a:solidFill>
                <a:latin typeface="Noto Sans CJK SC"/>
              </a:rPr>
              <a:t>库存范围/元组成本误判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75104" y="5271516"/>
            <a:ext cx="2907792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5362956"/>
            <a:ext cx="27614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1C2A42"/>
                </a:solidFill>
                <a:latin typeface="Noto Sans CJK SC"/>
              </a:rPr>
              <a:t>整仓范围扩大；每元组成本估计使规划器偏向串行位图路径
压力后保留 76.23%（下降 23.77%）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01184" y="5271516"/>
            <a:ext cx="340156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83480" y="534466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5" b="0" i="0" a:ea="Noto Sans CJK SC">
                <a:solidFill>
                  <a:srgbClr val="1C2A42"/>
                </a:solidFill>
                <a:latin typeface="Noto Sans CJK SC"/>
              </a:rPr>
              <a:t>主要调整：cpu_tuple_cost 0.01→0.0137
目的：提高每元组 CPU 成本，让规划器重新评估扩大范围的执行路径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5271516"/>
            <a:ext cx="2395728" cy="713232"/>
          </a:xfrm>
          <a:prstGeom prst="rect">
            <a:avLst/>
          </a:prstGeom>
          <a:solidFill>
            <a:srgbClr val="F1F5FA"/>
          </a:solidFill>
          <a:ln w="889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5353812"/>
            <a:ext cx="2304288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7,313.52
→ 5,575.37
→ 6,911.14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35056" y="5271516"/>
            <a:ext cx="841248" cy="713232"/>
          </a:xfrm>
          <a:prstGeom prst="rect">
            <a:avLst/>
          </a:prstGeom>
          <a:solidFill>
            <a:srgbClr val="E5F7EF"/>
          </a:solidFill>
          <a:ln w="8890">
            <a:solidFill>
              <a:srgbClr val="B4E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753344" y="5472684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a:ea="Noto Sans CJK SC">
                <a:solidFill>
                  <a:srgbClr val="1B9C6F"/>
                </a:solidFill>
                <a:latin typeface="Noto Sans CJK SC"/>
              </a:rPr>
              <a:t>123.96%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11F38"/>
          </a:solidFill>
          <a:ln w="8890"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" y="5742432"/>
            <a:ext cx="110185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a:ea="Noto Sans CJK SC">
                <a:solidFill>
                  <a:srgbClr val="FFFFFF"/>
                </a:solidFill>
                <a:latin typeface="Noto Sans CJK SC"/>
              </a:rPr>
              <a:t>恢复比例定义：修复后控制 TPS ÷ 压力阶段控制 TPS。
配置来自真实 GPT API response 的解析结果，不是预设修复值；每行的 26–27 项是完整 API 配置，关键参数仅用于说明主要调优方向。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488" y="6601968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0" b="0" i="0" a:ea="Noto Sans CJK SC">
                <a:solidFill>
                  <a:srgbClr val="5B6C84"/>
                </a:solidFill>
                <a:latin typeface="Noto Sans CJK SC"/>
              </a:rPr>
              <a:t>数据证据：/root/new/perf-anomaly-demo/results/tpcc_api_validation/；d07 未达到修复上升 &gt;20% 标准，未计入以上六组。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产品性能展示：Prometheus / perf / SysInsight / GPT API</dc:title>
  <dc:subject>基于 PostgreSQL 12.22 + TPCC 实测数据的两页性能展示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