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D3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D37"/>
          </a:solidFill>
          <a:ln w="8890">
            <a:solidFill>
              <a:srgbClr val="0F1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770DC"/>
          </a:solidFill>
          <a:ln w="8890">
            <a:solidFill>
              <a:srgbClr val="277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685800"/>
            <a:ext cx="47548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a:ea="Noto Sans CJK SC">
                <a:solidFill>
                  <a:srgbClr val="A0C6F8"/>
                </a:solidFill>
                <a:latin typeface="Noto Sans CJK SC"/>
              </a:rPr>
              <a:t>SYSINSIGHT  ×  DREAM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124712"/>
            <a:ext cx="80467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500" b="1" i="0" a:ea="Noto Sans CJK SC">
                <a:solidFill>
                  <a:srgbClr val="FFFFFF"/>
                </a:solidFill>
                <a:latin typeface="Noto Sans CJK SC"/>
              </a:rPr>
              <a:t>TP × AP 场景设计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920240"/>
            <a:ext cx="78638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 a:ea="Noto Sans CJK SC">
                <a:solidFill>
                  <a:srgbClr val="C1CFE4"/>
                </a:solidFill>
                <a:latin typeface="Noto Sans CJK SC"/>
              </a:rPr>
              <a:t>当前实验控制台的工作负载、压力模型、调优链路与验证边界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2761488"/>
            <a:ext cx="10881360" cy="713232"/>
          </a:xfrm>
          <a:prstGeom prst="roundRect">
            <a:avLst/>
          </a:prstGeom>
          <a:solidFill>
            <a:srgbClr val="1C3052"/>
          </a:solidFill>
          <a:ln w="8890">
            <a:solidFill>
              <a:srgbClr val="354E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2944368"/>
            <a:ext cx="103327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 i="0" a:ea="Noto Sans CJK SC">
                <a:solidFill>
                  <a:srgbClr val="FFFFFF"/>
                </a:solidFill>
                <a:latin typeface="Noto Sans CJK SC"/>
              </a:rPr>
              <a:t>一套 PostgreSQL · 两条工作负载链路 · 两种优化目标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3931920"/>
            <a:ext cx="3246120" cy="9144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8E1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3931920"/>
            <a:ext cx="73152" cy="914400"/>
          </a:xfrm>
          <a:prstGeom prst="rect">
            <a:avLst/>
          </a:prstGeom>
          <a:solidFill>
            <a:srgbClr val="2770DC"/>
          </a:solidFill>
          <a:ln w="8890">
            <a:solidFill>
              <a:srgbClr val="277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59" y="4059935"/>
            <a:ext cx="2971800" cy="3566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1" i="0" a:ea="Noto Sans CJK SC">
                <a:solidFill>
                  <a:srgbClr val="2770DC"/>
                </a:solidFill>
                <a:latin typeface="Noto Sans CJK SC"/>
              </a:rPr>
              <a:t>27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" y="4489704"/>
            <a:ext cx="2990087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40" b="0" i="0" a:ea="Noto Sans CJK SC">
                <a:solidFill>
                  <a:srgbClr val="566882"/>
                </a:solidFill>
                <a:latin typeface="Noto Sans CJK SC"/>
              </a:rPr>
              <a:t>TPCC 代码场景定义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62272" y="3931920"/>
            <a:ext cx="3246120" cy="9144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8E1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62272" y="3931920"/>
            <a:ext cx="73152" cy="914400"/>
          </a:xfrm>
          <a:prstGeom prst="rect">
            <a:avLst/>
          </a:prstGeom>
          <a:solidFill>
            <a:srgbClr val="16A2B5"/>
          </a:solidFill>
          <a:ln w="8890">
            <a:solidFill>
              <a:srgbClr val="16A2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26864" y="4059935"/>
            <a:ext cx="2971800" cy="3566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1" i="0" a:ea="Noto Sans CJK SC">
                <a:solidFill>
                  <a:srgbClr val="16A2B5"/>
                </a:solidFill>
                <a:latin typeface="Noto Sans CJK SC"/>
              </a:rPr>
              <a:t>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08576" y="4489704"/>
            <a:ext cx="2990087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40" b="0" i="0" a:ea="Noto Sans CJK SC">
                <a:solidFill>
                  <a:srgbClr val="566882"/>
                </a:solidFill>
                <a:latin typeface="Noto Sans CJK SC"/>
              </a:rPr>
              <a:t>控制台当前关注 TP 场景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66175" y="3931920"/>
            <a:ext cx="3273552" cy="9144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8E1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66175" y="3931920"/>
            <a:ext cx="73152" cy="914400"/>
          </a:xfrm>
          <a:prstGeom prst="rect">
            <a:avLst/>
          </a:prstGeom>
          <a:solidFill>
            <a:srgbClr val="7750BE"/>
          </a:solidFill>
          <a:ln w="8890">
            <a:solidFill>
              <a:srgbClr val="7750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30767" y="4059935"/>
            <a:ext cx="2999232" cy="3566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1" i="0" a:ea="Noto Sans CJK SC">
                <a:solidFill>
                  <a:srgbClr val="7750BE"/>
                </a:solidFill>
                <a:latin typeface="Noto Sans CJK SC"/>
              </a:rPr>
              <a:t>99 / 95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80" y="4489704"/>
            <a:ext cx="30175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40" b="0" i="0" a:ea="Noto Sans CJK SC">
                <a:solidFill>
                  <a:srgbClr val="566882"/>
                </a:solidFill>
                <a:latin typeface="Noto Sans CJK SC"/>
              </a:rPr>
              <a:t>TPC-DS SQL / 只读 SQL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" y="6144768"/>
            <a:ext cx="10972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30" b="0" i="0" a:ea="Noto Sans CJK SC">
                <a:solidFill>
                  <a:srgbClr val="A4B7D3"/>
                </a:solidFill>
                <a:latin typeface="Noto Sans CJK SC"/>
              </a:rPr>
              <a:t>环境：PostgreSQL 12 · keeninsight · TPCC schema + tpcds schema · pgbench · pg_stat_statements · pg_hint_plan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" y="6492240"/>
            <a:ext cx="36576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 i="0" a:ea="Noto Sans CJK SC">
                <a:solidFill>
                  <a:srgbClr val="859EC1"/>
                </a:solidFill>
                <a:latin typeface="Noto Sans CJK SC"/>
              </a:rPr>
              <a:t>2026-09-17  ·  场景设计说明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0F1D37"/>
          </a:solidFill>
          <a:ln w="8890">
            <a:solidFill>
              <a:srgbClr val="0F1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00584"/>
            <a:ext cx="36576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30" b="1" i="0" a:ea="Noto Sans CJK SC">
                <a:solidFill>
                  <a:srgbClr val="9FBFEC"/>
                </a:solidFill>
                <a:latin typeface="Noto Sans CJK SC"/>
              </a:rPr>
              <a:t>TP × AP  SCENARIO DESIGN  /  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" y="2743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300" b="1" i="0" a:ea="Noto Sans CJK SC">
                <a:solidFill>
                  <a:srgbClr val="FFFFFF"/>
                </a:solidFill>
                <a:latin typeface="Noto Sans CJK SC"/>
              </a:rPr>
              <a:t>一条链路，两种目标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93776" y="704088"/>
            <a:ext cx="109728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80" b="0" i="0" a:ea="Noto Sans CJK SC">
                <a:solidFill>
                  <a:srgbClr val="C1CFE4"/>
                </a:solidFill>
                <a:latin typeface="Noto Sans CJK SC"/>
              </a:rPr>
              <a:t>TP 关注并发事务 TPS；AP 关注复杂分析 SQL 的实际耗时与改写质量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75488" y="1133856"/>
            <a:ext cx="5431536" cy="4517136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8E1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75488" y="1133856"/>
            <a:ext cx="5431536" cy="82296"/>
          </a:xfrm>
          <a:prstGeom prst="rect">
            <a:avLst/>
          </a:prstGeom>
          <a:solidFill>
            <a:srgbClr val="2770DC"/>
          </a:solidFill>
          <a:ln w="8890">
            <a:solidFill>
              <a:srgbClr val="277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1362456"/>
            <a:ext cx="4937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 a:ea="Noto Sans CJK SC">
                <a:solidFill>
                  <a:srgbClr val="1C2A42"/>
                </a:solidFill>
                <a:latin typeface="Noto Sans CJK SC"/>
              </a:rPr>
              <a:t>TP｜SysInsight 资源/参数恢复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" y="1847088"/>
            <a:ext cx="2212848" cy="1051560"/>
          </a:xfrm>
          <a:prstGeom prst="roundRect">
            <a:avLst/>
          </a:prstGeom>
          <a:solidFill>
            <a:srgbClr val="E8F1FF"/>
          </a:solidFill>
          <a:ln w="8890">
            <a:solidFill>
              <a:srgbClr val="E8F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2104" y="1965960"/>
            <a:ext cx="29260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a:ea="Noto Sans CJK SC">
                <a:solidFill>
                  <a:srgbClr val="2770DC"/>
                </a:solidFill>
                <a:latin typeface="Noto Sans CJK SC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2104" y="2194560"/>
            <a:ext cx="1938528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 a:ea="Noto Sans CJK SC">
                <a:solidFill>
                  <a:srgbClr val="1C2A42"/>
                </a:solidFill>
                <a:latin typeface="Noto Sans CJK SC"/>
              </a:rPr>
              <a:t>TPCC 正常负载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2104" y="2478024"/>
            <a:ext cx="194767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30" b="0" i="0" a:ea="Noto Sans CJK SC">
                <a:solidFill>
                  <a:srgbClr val="566882"/>
                </a:solidFill>
                <a:latin typeface="Noto Sans CJK SC"/>
              </a:rPr>
              <a:t>tp_normal.sql
五类 TPC-C 事务混合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28416" y="1847088"/>
            <a:ext cx="2212848" cy="1051560"/>
          </a:xfrm>
          <a:prstGeom prst="roundRect">
            <a:avLst/>
          </a:prstGeom>
          <a:solidFill>
            <a:srgbClr val="E6F8F8"/>
          </a:solidFill>
          <a:ln w="8890">
            <a:solidFill>
              <a:srgbClr val="E6F8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47288" y="1965960"/>
            <a:ext cx="29260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a:ea="Noto Sans CJK SC">
                <a:solidFill>
                  <a:srgbClr val="16A2B5"/>
                </a:solidFill>
                <a:latin typeface="Noto Sans CJK SC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47288" y="2194560"/>
            <a:ext cx="1938528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 a:ea="Noto Sans CJK SC">
                <a:solidFill>
                  <a:srgbClr val="1C2A42"/>
                </a:solidFill>
                <a:latin typeface="Noto Sans CJK SC"/>
              </a:rPr>
              <a:t>外部 TP 压力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47288" y="2478024"/>
            <a:ext cx="194767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30" b="0" i="0" a:ea="Noto Sans CJK SC">
                <a:solidFill>
                  <a:srgbClr val="566882"/>
                </a:solidFill>
                <a:latin typeface="Noto Sans CJK SC"/>
              </a:rPr>
              <a:t>固定速率 pgbench -R
保持压力不撤掉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13232" y="3273552"/>
            <a:ext cx="2212848" cy="1051560"/>
          </a:xfrm>
          <a:prstGeom prst="roundRect">
            <a:avLst/>
          </a:prstGeom>
          <a:solidFill>
            <a:srgbClr val="FFF3E2"/>
          </a:solidFill>
          <a:ln w="8890">
            <a:solidFill>
              <a:srgbClr val="FFF3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2104" y="3392424"/>
            <a:ext cx="29260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a:ea="Noto Sans CJK SC">
                <a:solidFill>
                  <a:srgbClr val="E37E27"/>
                </a:solidFill>
                <a:latin typeface="Noto Sans CJK SC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2104" y="3621024"/>
            <a:ext cx="1938528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 a:ea="Noto Sans CJK SC">
                <a:solidFill>
                  <a:srgbClr val="1C2A42"/>
                </a:solidFill>
                <a:latin typeface="Noto Sans CJK SC"/>
              </a:rPr>
              <a:t>观测与检测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2104" y="3904487"/>
            <a:ext cx="194767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30" b="0" i="0" a:ea="Noto Sans CJK SC">
                <a:solidFill>
                  <a:srgbClr val="566882"/>
                </a:solidFill>
                <a:latin typeface="Noto Sans CJK SC"/>
              </a:rPr>
              <a:t>Prometheus 告警 + perf
SysInsight 原始检测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328416" y="3273552"/>
            <a:ext cx="2212848" cy="1051560"/>
          </a:xfrm>
          <a:prstGeom prst="roundRect">
            <a:avLst/>
          </a:prstGeom>
          <a:solidFill>
            <a:srgbClr val="E6F7EF"/>
          </a:solidFill>
          <a:ln w="8890">
            <a:solidFill>
              <a:srgbClr val="E6F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447288" y="3392424"/>
            <a:ext cx="29260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a:ea="Noto Sans CJK SC">
                <a:solidFill>
                  <a:srgbClr val="1D9B6C"/>
                </a:solidFill>
                <a:latin typeface="Noto Sans CJK SC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47288" y="3621024"/>
            <a:ext cx="1938528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 a:ea="Noto Sans CJK SC">
                <a:solidFill>
                  <a:srgbClr val="1C2A42"/>
                </a:solidFill>
                <a:latin typeface="Noto Sans CJK SC"/>
              </a:rPr>
              <a:t>临时应用复测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447288" y="3904487"/>
            <a:ext cx="194767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30" b="0" i="0" a:ea="Noto Sans CJK SC">
                <a:solidFill>
                  <a:srgbClr val="566882"/>
                </a:solidFill>
                <a:latin typeface="Noto Sans CJK SC"/>
              </a:rPr>
              <a:t>GPT 候选 → 临时配置
压力下比较业务 TPS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3232" y="5102352"/>
            <a:ext cx="48920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69" b="1" i="0" a:ea="Noto Sans CJK SC">
                <a:solidFill>
                  <a:srgbClr val="2770DC"/>
                </a:solidFill>
                <a:latin typeface="Noto Sans CJK SC"/>
              </a:rPr>
              <a:t>目标：压力仍在时，目标 TPCC 业务 TPS 回升；实验结束后配置恢复。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72784" y="1133856"/>
            <a:ext cx="5431536" cy="4517136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8E1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272784" y="1133856"/>
            <a:ext cx="5431536" cy="82296"/>
          </a:xfrm>
          <a:prstGeom prst="rect">
            <a:avLst/>
          </a:prstGeom>
          <a:solidFill>
            <a:srgbClr val="7750BE"/>
          </a:solidFill>
          <a:ln w="8890">
            <a:solidFill>
              <a:srgbClr val="7750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10528" y="1362456"/>
            <a:ext cx="4937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 a:ea="Noto Sans CJK SC">
                <a:solidFill>
                  <a:srgbClr val="1C2A42"/>
                </a:solidFill>
                <a:latin typeface="Noto Sans CJK SC"/>
              </a:rPr>
              <a:t>AP｜DREAM 单 SQL 优化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510528" y="1847088"/>
            <a:ext cx="2212848" cy="1051560"/>
          </a:xfrm>
          <a:prstGeom prst="roundRect">
            <a:avLst/>
          </a:prstGeom>
          <a:solidFill>
            <a:srgbClr val="F1EBFD"/>
          </a:solidFill>
          <a:ln w="8890">
            <a:solidFill>
              <a:srgbClr val="F1EB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629400" y="1965960"/>
            <a:ext cx="29260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a:ea="Noto Sans CJK SC">
                <a:solidFill>
                  <a:srgbClr val="7750BE"/>
                </a:solidFill>
                <a:latin typeface="Noto Sans CJK SC"/>
              </a:rPr>
              <a:t>01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629400" y="2194560"/>
            <a:ext cx="1938528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 a:ea="Noto Sans CJK SC">
                <a:solidFill>
                  <a:srgbClr val="1C2A42"/>
                </a:solidFill>
                <a:latin typeface="Noto Sans CJK SC"/>
              </a:rPr>
              <a:t>选择 TPC-DS SQL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29400" y="2478024"/>
            <a:ext cx="194767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30" b="0" i="0" a:ea="Noto Sans CJK SC">
                <a:solidFill>
                  <a:srgbClr val="566882"/>
                </a:solidFill>
                <a:latin typeface="Noto Sans CJK SC"/>
              </a:rPr>
              <a:t>Q1–Q99 目录
单条只读 SELECT/WITH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125712" y="1847088"/>
            <a:ext cx="2212848" cy="1051560"/>
          </a:xfrm>
          <a:prstGeom prst="roundRect">
            <a:avLst/>
          </a:prstGeom>
          <a:solidFill>
            <a:srgbClr val="FFF3E2"/>
          </a:solidFill>
          <a:ln w="8890">
            <a:solidFill>
              <a:srgbClr val="FFF3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244584" y="1965960"/>
            <a:ext cx="29260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a:ea="Noto Sans CJK SC">
                <a:solidFill>
                  <a:srgbClr val="E37E27"/>
                </a:solidFill>
                <a:latin typeface="Noto Sans CJK SC"/>
              </a:rPr>
              <a:t>02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244584" y="2194560"/>
            <a:ext cx="1938528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 a:ea="Noto Sans CJK SC">
                <a:solidFill>
                  <a:srgbClr val="1C2A42"/>
                </a:solidFill>
                <a:latin typeface="Noto Sans CJK SC"/>
              </a:rPr>
              <a:t>原 SQL 基线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244584" y="2478024"/>
            <a:ext cx="194767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30" b="0" i="0" a:ea="Noto Sans CJK SC">
                <a:solidFill>
                  <a:srgbClr val="566882"/>
                </a:solidFill>
                <a:latin typeface="Noto Sans CJK SC"/>
              </a:rPr>
              <a:t>真实执行并记录耗时
pg_stat_statements 观测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510528" y="3273552"/>
            <a:ext cx="2212848" cy="1051560"/>
          </a:xfrm>
          <a:prstGeom prst="roundRect">
            <a:avLst/>
          </a:prstGeom>
          <a:solidFill>
            <a:srgbClr val="E8F1FF"/>
          </a:solidFill>
          <a:ln w="8890">
            <a:solidFill>
              <a:srgbClr val="E8F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629400" y="3392424"/>
            <a:ext cx="29260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a:ea="Noto Sans CJK SC">
                <a:solidFill>
                  <a:srgbClr val="2770DC"/>
                </a:solidFill>
                <a:latin typeface="Noto Sans CJK SC"/>
              </a:rPr>
              <a:t>03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629400" y="3621024"/>
            <a:ext cx="1938528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 a:ea="Noto Sans CJK SC">
                <a:solidFill>
                  <a:srgbClr val="1C2A42"/>
                </a:solidFill>
                <a:latin typeface="Noto Sans CJK SC"/>
              </a:rPr>
              <a:t>DREAM 异步分析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629400" y="3904487"/>
            <a:ext cx="194767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30" b="0" i="0" a:ea="Noto Sans CJK SC">
                <a:solidFill>
                  <a:srgbClr val="566882"/>
                </a:solidFill>
                <a:latin typeface="Noto Sans CJK SC"/>
              </a:rPr>
              <a:t>诊断 → 计划/记忆检索
GPT API 生成候选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9125712" y="3273552"/>
            <a:ext cx="2212848" cy="1051560"/>
          </a:xfrm>
          <a:prstGeom prst="roundRect">
            <a:avLst/>
          </a:prstGeom>
          <a:solidFill>
            <a:srgbClr val="E6F7EF"/>
          </a:solidFill>
          <a:ln w="8890">
            <a:solidFill>
              <a:srgbClr val="E6F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244584" y="3392424"/>
            <a:ext cx="29260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a:ea="Noto Sans CJK SC">
                <a:solidFill>
                  <a:srgbClr val="1D9B6C"/>
                </a:solidFill>
                <a:latin typeface="Noto Sans CJK SC"/>
              </a:rPr>
              <a:t>04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244584" y="3621024"/>
            <a:ext cx="1938528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 a:ea="Noto Sans CJK SC">
                <a:solidFill>
                  <a:srgbClr val="1C2A42"/>
                </a:solidFill>
                <a:latin typeface="Noto Sans CJK SC"/>
              </a:rPr>
              <a:t>优化 SQL 再执行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244584" y="3904487"/>
            <a:ext cx="194767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30" b="0" i="0" a:ea="Noto Sans CJK SC">
                <a:solidFill>
                  <a:srgbClr val="566882"/>
                </a:solidFill>
                <a:latin typeface="Noto Sans CJK SC"/>
              </a:rPr>
              <a:t>rewrite / session / hint
比较真实执行耗时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510528" y="5102352"/>
            <a:ext cx="48920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69" b="1" i="0" a:ea="Noto Sans CJK SC">
                <a:solidFill>
                  <a:srgbClr val="7750BE"/>
                </a:solidFill>
                <a:latin typeface="Noto Sans CJK SC"/>
              </a:rPr>
              <a:t>目标：同一条 SQL 的 optimized 实测耗时低于 original；候选是否发布由验证策略决定。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475488" y="5870448"/>
            <a:ext cx="11228832" cy="466344"/>
          </a:xfrm>
          <a:prstGeom prst="roundRect">
            <a:avLst/>
          </a:prstGeom>
          <a:solidFill>
            <a:srgbClr val="0F1D37"/>
          </a:solidFill>
          <a:ln w="8890">
            <a:solidFill>
              <a:srgbClr val="0F1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94944" y="5980176"/>
            <a:ext cx="10808208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19" b="1" i="0" a:ea="Noto Sans CJK SC">
                <a:solidFill>
                  <a:srgbClr val="FFFFFF"/>
                </a:solidFill>
                <a:latin typeface="Noto Sans CJK SC"/>
              </a:rPr>
              <a:t>共用底座：bridge 负责自动编排与审计，实验控制台负责触发，Grafana 负责趋势，PostgreSQL 负责真实执行。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75488" y="6601968"/>
            <a:ext cx="1115568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60" b="0" i="0" a:ea="Noto Sans CJK SC">
                <a:solidFill>
                  <a:srgbClr val="566882"/>
                </a:solidFill>
                <a:latin typeface="Noto Sans CJK SC"/>
              </a:rPr>
              <a:t>设计原则：TP 的压力不能随数据库变慢而自动降速；AP 的预测收益不能替代数据库实际 replay。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0F1D37"/>
          </a:solidFill>
          <a:ln w="8890">
            <a:solidFill>
              <a:srgbClr val="0F1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00584"/>
            <a:ext cx="36576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30" b="1" i="0" a:ea="Noto Sans CJK SC">
                <a:solidFill>
                  <a:srgbClr val="9FBFEC"/>
                </a:solidFill>
                <a:latin typeface="Noto Sans CJK SC"/>
              </a:rPr>
              <a:t>TP × AP  SCENARIO DESIGN  /  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" y="2743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300" b="1" i="0" a:ea="Noto Sans CJK SC">
                <a:solidFill>
                  <a:srgbClr val="FFFFFF"/>
                </a:solidFill>
                <a:latin typeface="Noto Sans CJK SC"/>
              </a:rPr>
              <a:t>TP 场景库全貌｜27 个定义，6 个控制台焦点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93776" y="704088"/>
            <a:ext cx="109728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80" b="0" i="0" a:ea="Noto Sans CJK SC">
                <a:solidFill>
                  <a:srgbClr val="C1CFE4"/>
                </a:solidFill>
                <a:latin typeface="Noto Sans CJK SC"/>
              </a:rPr>
              <a:t>代码保留完整探索空间；控制台只展示当前用于稳定演示和复测的焦点集合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75488" y="1243584"/>
            <a:ext cx="3154680" cy="1444752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8E1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75488" y="1243584"/>
            <a:ext cx="100584" cy="1444752"/>
          </a:xfrm>
          <a:prstGeom prst="rect">
            <a:avLst/>
          </a:prstGeom>
          <a:solidFill>
            <a:srgbClr val="2770DC"/>
          </a:solidFill>
          <a:ln w="8890">
            <a:solidFill>
              <a:srgbClr val="277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426464"/>
            <a:ext cx="530352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500" b="1" i="0" a:ea="Noto Sans CJK SC">
                <a:solidFill>
                  <a:srgbClr val="2770DC"/>
                </a:solidFill>
                <a:latin typeface="Noto Sans CJK SC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08176" y="1453896"/>
            <a:ext cx="194767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 a:ea="Noto Sans CJK SC">
                <a:solidFill>
                  <a:srgbClr val="1C2A42"/>
                </a:solidFill>
                <a:latin typeface="Noto Sans CJK SC"/>
              </a:rPr>
              <a:t>基础资源压力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801368"/>
            <a:ext cx="197510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 a:ea="Noto Sans CJK SC">
                <a:solidFill>
                  <a:srgbClr val="566882"/>
                </a:solidFill>
                <a:latin typeface="Noto Sans CJK SC"/>
              </a:rPr>
              <a:t>WAL / checkpoint
Payment 提交
autovacuum churn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050791" y="1243584"/>
            <a:ext cx="3154680" cy="1444752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8E1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050791" y="1243584"/>
            <a:ext cx="100584" cy="1444752"/>
          </a:xfrm>
          <a:prstGeom prst="rect">
            <a:avLst/>
          </a:prstGeom>
          <a:solidFill>
            <a:srgbClr val="16A2B5"/>
          </a:solidFill>
          <a:ln w="8890">
            <a:solidFill>
              <a:srgbClr val="16A2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06824" y="1426464"/>
            <a:ext cx="530352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500" b="1" i="0" a:ea="Noto Sans CJK SC">
                <a:solidFill>
                  <a:srgbClr val="16A2B5"/>
                </a:solidFill>
                <a:latin typeface="Noto Sans CJK SC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83479" y="1453896"/>
            <a:ext cx="194767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 a:ea="Noto Sans CJK SC">
                <a:solidFill>
                  <a:srgbClr val="1C2A42"/>
                </a:solidFill>
                <a:latin typeface="Noto Sans CJK SC"/>
              </a:rPr>
              <a:t>单事务突发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83479" y="1801368"/>
            <a:ext cx="197510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 a:ea="Noto Sans CJK SC">
                <a:solidFill>
                  <a:srgbClr val="566882"/>
                </a:solidFill>
                <a:latin typeface="Noto Sans CJK SC"/>
              </a:rPr>
              <a:t>New Order
Delivery
Order Status / Stock Level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626096" y="1243584"/>
            <a:ext cx="3154680" cy="1444752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8E1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626096" y="1243584"/>
            <a:ext cx="100584" cy="1444752"/>
          </a:xfrm>
          <a:prstGeom prst="rect">
            <a:avLst/>
          </a:prstGeom>
          <a:solidFill>
            <a:srgbClr val="7750BE"/>
          </a:solidFill>
          <a:ln w="8890">
            <a:solidFill>
              <a:srgbClr val="7750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882127" y="1426464"/>
            <a:ext cx="530352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500" b="1" i="0" a:ea="Noto Sans CJK SC">
                <a:solidFill>
                  <a:srgbClr val="7750BE"/>
                </a:solidFill>
                <a:latin typeface="Noto Sans CJK SC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58784" y="1453896"/>
            <a:ext cx="194767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 a:ea="Noto Sans CJK SC">
                <a:solidFill>
                  <a:srgbClr val="1C2A42"/>
                </a:solidFill>
                <a:latin typeface="Noto Sans CJK SC"/>
              </a:rPr>
              <a:t>跨仓访问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58784" y="1801368"/>
            <a:ext cx="197510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 a:ea="Noto Sans CJK SC">
                <a:solidFill>
                  <a:srgbClr val="566882"/>
                </a:solidFill>
                <a:latin typeface="Noto Sans CJK SC"/>
              </a:rPr>
              <a:t>Remote Payment
Remote New Order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75488" y="3072384"/>
            <a:ext cx="3154680" cy="1444752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8E1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75488" y="3072384"/>
            <a:ext cx="100584" cy="1444752"/>
          </a:xfrm>
          <a:prstGeom prst="rect">
            <a:avLst/>
          </a:prstGeom>
          <a:solidFill>
            <a:srgbClr val="E37E27"/>
          </a:solidFill>
          <a:ln w="8890">
            <a:solidFill>
              <a:srgbClr val="E37E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3255264"/>
            <a:ext cx="530352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500" b="1" i="0" a:ea="Noto Sans CJK SC">
                <a:solidFill>
                  <a:srgbClr val="E37E27"/>
                </a:solidFill>
                <a:latin typeface="Noto Sans CJK SC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08176" y="3282696"/>
            <a:ext cx="194767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 a:ea="Noto Sans CJK SC">
                <a:solidFill>
                  <a:srgbClr val="1C2A42"/>
                </a:solidFill>
                <a:latin typeface="Noto Sans CJK SC"/>
              </a:rPr>
              <a:t>热点访问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08176" y="3630168"/>
            <a:ext cx="197510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 a:ea="Noto Sans CJK SC">
                <a:solidFill>
                  <a:srgbClr val="566882"/>
                </a:solidFill>
                <a:latin typeface="Noto Sans CJK SC"/>
              </a:rPr>
              <a:t>热点 New Order
热点 Payment
热点读事务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050791" y="3072384"/>
            <a:ext cx="3154680" cy="1444752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8E1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050791" y="3072384"/>
            <a:ext cx="100584" cy="1444752"/>
          </a:xfrm>
          <a:prstGeom prst="rect">
            <a:avLst/>
          </a:prstGeom>
          <a:solidFill>
            <a:srgbClr val="1D9B6C"/>
          </a:solidFill>
          <a:ln w="8890">
            <a:solidFill>
              <a:srgbClr val="1D9B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306824" y="3255264"/>
            <a:ext cx="530352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500" b="1" i="0" a:ea="Noto Sans CJK SC">
                <a:solidFill>
                  <a:srgbClr val="1D9B6C"/>
                </a:solidFill>
                <a:latin typeface="Noto Sans CJK SC"/>
              </a:rPr>
              <a:t>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983479" y="3282696"/>
            <a:ext cx="194767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 a:ea="Noto Sans CJK SC">
                <a:solidFill>
                  <a:srgbClr val="1C2A42"/>
                </a:solidFill>
                <a:latin typeface="Noto Sans CJK SC"/>
              </a:rPr>
              <a:t>混合事务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983479" y="3630168"/>
            <a:ext cx="197510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 a:ea="Noto Sans CJK SC">
                <a:solidFill>
                  <a:srgbClr val="566882"/>
                </a:solidFill>
                <a:latin typeface="Noto Sans CJK SC"/>
              </a:rPr>
              <a:t>读混合
五类 TPCC 混合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626096" y="3072384"/>
            <a:ext cx="3154680" cy="1444752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8E1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626096" y="3072384"/>
            <a:ext cx="100584" cy="1444752"/>
          </a:xfrm>
          <a:prstGeom prst="rect">
            <a:avLst/>
          </a:prstGeom>
          <a:solidFill>
            <a:srgbClr val="D39726"/>
          </a:solidFill>
          <a:ln w="8890">
            <a:solidFill>
              <a:srgbClr val="D397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882127" y="3255264"/>
            <a:ext cx="530352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500" b="1" i="0" a:ea="Noto Sans CJK SC">
                <a:solidFill>
                  <a:srgbClr val="D39726"/>
                </a:solidFill>
                <a:latin typeface="Noto Sans CJK SC"/>
              </a:rPr>
              <a:t>12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558784" y="3282696"/>
            <a:ext cx="194767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 a:ea="Noto Sans CJK SC">
                <a:solidFill>
                  <a:srgbClr val="1C2A42"/>
                </a:solidFill>
                <a:latin typeface="Noto Sans CJK SC"/>
              </a:rPr>
              <a:t>强度/复合变体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558784" y="3630168"/>
            <a:ext cx="197510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 a:ea="Noto Sans CJK SC">
                <a:solidFill>
                  <a:srgbClr val="566882"/>
                </a:solidFill>
                <a:latin typeface="Noto Sans CJK SC"/>
              </a:rPr>
              <a:t>中等/高强度
随机 I/O
远程/热点/混合高压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75488" y="4855464"/>
            <a:ext cx="11228832" cy="1060704"/>
          </a:xfrm>
          <a:prstGeom prst="roundRect">
            <a:avLst/>
          </a:prstGeom>
          <a:solidFill>
            <a:srgbClr val="0F1D37"/>
          </a:solidFill>
          <a:ln w="8890">
            <a:solidFill>
              <a:srgbClr val="0F1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49808" y="5065776"/>
            <a:ext cx="21488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 a:ea="Noto Sans CJK SC">
                <a:solidFill>
                  <a:srgbClr val="FFFFFF"/>
                </a:solidFill>
                <a:latin typeface="Noto Sans CJK SC"/>
              </a:rPr>
              <a:t>控制台当前 6 个关注场景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834640" y="5010912"/>
            <a:ext cx="844905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 a:ea="Noto Sans CJK SC">
                <a:solidFill>
                  <a:srgbClr val="DAE5F6"/>
                </a:solidFill>
                <a:latin typeface="Noto Sans CJK SC"/>
              </a:rPr>
              <a:t>1 Order Status 突发　·　2 Stock Level 突发　·　3 Payment 高强度　·　4 Order Status 随机读 I/O　·　5 热点 Stock Level　·　6 热点 Payment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13232" y="6144768"/>
            <a:ext cx="1082649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80" b="0" i="0" a:ea="Noto Sans CJK SC">
                <a:solidFill>
                  <a:srgbClr val="566882"/>
                </a:solidFill>
                <a:latin typeface="Noto Sans CJK SC"/>
              </a:rPr>
              <a:t>注意：27 个是代码场景库；“当前可从实验控制台直接选择”指上面 6 个 focus 场景。其余定义仍可由 runner 复现，但不是控制台默认焦点。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75488" y="6601968"/>
            <a:ext cx="1115568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60" b="0" i="0" a:ea="Noto Sans CJK SC">
                <a:solidFill>
                  <a:srgbClr val="566882"/>
                </a:solidFill>
                <a:latin typeface="Noto Sans CJK SC"/>
              </a:rPr>
              <a:t>来源：perf-anomaly-demo/tpcc_transaction_cases.py；控制台由 FOCUS_SCENARIO_IDS 过滤场景。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0F1D37"/>
          </a:solidFill>
          <a:ln w="8890">
            <a:solidFill>
              <a:srgbClr val="0F1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00584"/>
            <a:ext cx="36576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30" b="1" i="0" a:ea="Noto Sans CJK SC">
                <a:solidFill>
                  <a:srgbClr val="9FBFEC"/>
                </a:solidFill>
                <a:latin typeface="Noto Sans CJK SC"/>
              </a:rPr>
              <a:t>TP × AP  SCENARIO DESIGN  /  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" y="2743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300" b="1" i="0" a:ea="Noto Sans CJK SC">
                <a:solidFill>
                  <a:srgbClr val="FFFFFF"/>
                </a:solidFill>
                <a:latin typeface="Noto Sans CJK SC"/>
              </a:rPr>
              <a:t>TP 控制台焦点｜6 组外部压力如何制造退化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93776" y="704088"/>
            <a:ext cx="109728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80" b="0" i="0" a:ea="Noto Sans CJK SC">
                <a:solidFill>
                  <a:srgbClr val="C1CFE4"/>
                </a:solidFill>
                <a:latin typeface="Noto Sans CJK SC"/>
              </a:rPr>
              <a:t>外部压力使用固定速率 pgbench -R；业务 TPS 使用 tp_normal.sql 作为被保护目标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1188720"/>
            <a:ext cx="685800" cy="384048"/>
          </a:xfrm>
          <a:prstGeom prst="rect">
            <a:avLst/>
          </a:prstGeom>
          <a:solidFill>
            <a:srgbClr val="0F1D37"/>
          </a:solidFill>
          <a:ln w="8890">
            <a:solidFill>
              <a:srgbClr val="0F1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12064" y="1271016"/>
            <a:ext cx="612648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40" b="1" i="0" a:ea="Noto Sans CJK SC">
                <a:solidFill>
                  <a:srgbClr val="FFFFFF"/>
                </a:solidFill>
                <a:latin typeface="Noto Sans CJK SC"/>
              </a:rPr>
              <a:t>焦点</a:t>
            </a:r>
          </a:p>
        </p:txBody>
      </p:sp>
      <p:sp>
        <p:nvSpPr>
          <p:cNvPr id="8" name="Rectangle 7"/>
          <p:cNvSpPr/>
          <p:nvPr/>
        </p:nvSpPr>
        <p:spPr>
          <a:xfrm>
            <a:off x="1179576" y="1188720"/>
            <a:ext cx="2212848" cy="384048"/>
          </a:xfrm>
          <a:prstGeom prst="rect">
            <a:avLst/>
          </a:prstGeom>
          <a:solidFill>
            <a:srgbClr val="0F1D37"/>
          </a:solidFill>
          <a:ln w="8890">
            <a:solidFill>
              <a:srgbClr val="0F1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16152" y="1271016"/>
            <a:ext cx="2139696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40" b="1" i="0" a:ea="Noto Sans CJK SC">
                <a:solidFill>
                  <a:srgbClr val="FFFFFF"/>
                </a:solidFill>
                <a:latin typeface="Noto Sans CJK SC"/>
              </a:rPr>
              <a:t>场景</a:t>
            </a:r>
          </a:p>
        </p:txBody>
      </p:sp>
      <p:sp>
        <p:nvSpPr>
          <p:cNvPr id="10" name="Rectangle 9"/>
          <p:cNvSpPr/>
          <p:nvPr/>
        </p:nvSpPr>
        <p:spPr>
          <a:xfrm>
            <a:off x="3410712" y="1188720"/>
            <a:ext cx="1463040" cy="384048"/>
          </a:xfrm>
          <a:prstGeom prst="rect">
            <a:avLst/>
          </a:prstGeom>
          <a:solidFill>
            <a:srgbClr val="0F1D37"/>
          </a:solidFill>
          <a:ln w="8890">
            <a:solidFill>
              <a:srgbClr val="0F1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47288" y="1271016"/>
            <a:ext cx="1389888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40" b="1" i="0" a:ea="Noto Sans CJK SC">
                <a:solidFill>
                  <a:srgbClr val="FFFFFF"/>
                </a:solidFill>
                <a:latin typeface="Noto Sans CJK SC"/>
              </a:rPr>
              <a:t>外部目标 TPS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892040" y="1188720"/>
            <a:ext cx="3090672" cy="384048"/>
          </a:xfrm>
          <a:prstGeom prst="rect">
            <a:avLst/>
          </a:prstGeom>
          <a:solidFill>
            <a:srgbClr val="0F1D37"/>
          </a:solidFill>
          <a:ln w="8890">
            <a:solidFill>
              <a:srgbClr val="0F1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928616" y="1271016"/>
            <a:ext cx="301752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40" b="1" i="0" a:ea="Noto Sans CJK SC">
                <a:solidFill>
                  <a:srgbClr val="FFFFFF"/>
                </a:solidFill>
                <a:latin typeface="Noto Sans CJK SC"/>
              </a:rPr>
              <a:t>压力画像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01000" y="1188720"/>
            <a:ext cx="3401568" cy="384048"/>
          </a:xfrm>
          <a:prstGeom prst="rect">
            <a:avLst/>
          </a:prstGeom>
          <a:solidFill>
            <a:srgbClr val="0F1D37"/>
          </a:solidFill>
          <a:ln w="8890">
            <a:solidFill>
              <a:srgbClr val="0F1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37575" y="1271016"/>
            <a:ext cx="3328416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40" b="1" i="0" a:ea="Noto Sans CJK SC">
                <a:solidFill>
                  <a:srgbClr val="FFFFFF"/>
                </a:solidFill>
                <a:latin typeface="Noto Sans CJK SC"/>
              </a:rPr>
              <a:t>主要观测指标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75488" y="1618488"/>
            <a:ext cx="685800" cy="585216"/>
          </a:xfrm>
          <a:prstGeom prst="rect">
            <a:avLst/>
          </a:prstGeom>
          <a:solidFill>
            <a:srgbClr val="FFFFFF"/>
          </a:solidFill>
          <a:ln w="8890">
            <a:solidFill>
              <a:srgbClr val="D8E1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5488" y="1792224"/>
            <a:ext cx="685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50" b="1" i="0" a:ea="Noto Sans CJK SC">
                <a:solidFill>
                  <a:srgbClr val="2770DC"/>
                </a:solidFill>
                <a:latin typeface="Noto Sans CJK SC"/>
              </a:rPr>
              <a:t>01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179576" y="1618488"/>
            <a:ext cx="2212848" cy="585216"/>
          </a:xfrm>
          <a:prstGeom prst="rect">
            <a:avLst/>
          </a:prstGeom>
          <a:solidFill>
            <a:srgbClr val="FFFFFF"/>
          </a:solidFill>
          <a:ln w="8890">
            <a:solidFill>
              <a:srgbClr val="D8E1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271016" y="1737360"/>
            <a:ext cx="2048255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80" b="1" i="0" a:ea="Noto Sans CJK SC">
                <a:solidFill>
                  <a:srgbClr val="1C2A42"/>
                </a:solidFill>
                <a:latin typeface="Noto Sans CJK SC"/>
              </a:rPr>
              <a:t>Order Status 突发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410712" y="1618488"/>
            <a:ext cx="1463040" cy="585216"/>
          </a:xfrm>
          <a:prstGeom prst="rect">
            <a:avLst/>
          </a:prstGeom>
          <a:solidFill>
            <a:srgbClr val="FFFFFF"/>
          </a:solidFill>
          <a:ln w="8890">
            <a:solidFill>
              <a:srgbClr val="D8E1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410712" y="1792224"/>
            <a:ext cx="14630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 i="0" a:ea="Noto Sans CJK SC">
                <a:solidFill>
                  <a:srgbClr val="2770DC"/>
                </a:solidFill>
                <a:latin typeface="Noto Sans CJK SC"/>
              </a:rPr>
              <a:t>6600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892040" y="1618488"/>
            <a:ext cx="3090672" cy="585216"/>
          </a:xfrm>
          <a:prstGeom prst="rect">
            <a:avLst/>
          </a:prstGeom>
          <a:solidFill>
            <a:srgbClr val="FFFFFF"/>
          </a:solidFill>
          <a:ln w="8890">
            <a:solidFill>
              <a:srgbClr val="D8E1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983479" y="1737360"/>
            <a:ext cx="2926079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80" b="0" i="0" a:ea="Noto Sans CJK SC">
                <a:solidFill>
                  <a:srgbClr val="566882"/>
                </a:solidFill>
                <a:latin typeface="Noto Sans CJK SC"/>
              </a:rPr>
              <a:t>客服随机索引读并发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001000" y="1618488"/>
            <a:ext cx="3401568" cy="585216"/>
          </a:xfrm>
          <a:prstGeom prst="rect">
            <a:avLst/>
          </a:prstGeom>
          <a:solidFill>
            <a:srgbClr val="FFFFFF"/>
          </a:solidFill>
          <a:ln w="8890">
            <a:solidFill>
              <a:srgbClr val="D8E1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92440" y="1737360"/>
            <a:ext cx="3236976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80" b="0" i="0" a:ea="Noto Sans CJK SC">
                <a:solidFill>
                  <a:srgbClr val="566882"/>
                </a:solidFill>
                <a:latin typeface="Noto Sans CJK SC"/>
              </a:rPr>
              <a:t>blks_read / hit · active_total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75488" y="2249424"/>
            <a:ext cx="685800" cy="585216"/>
          </a:xfrm>
          <a:prstGeom prst="rect">
            <a:avLst/>
          </a:prstGeom>
          <a:solidFill>
            <a:srgbClr val="F2F6FB"/>
          </a:solidFill>
          <a:ln w="8890">
            <a:solidFill>
              <a:srgbClr val="D8E1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75488" y="2423160"/>
            <a:ext cx="685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50" b="1" i="0" a:ea="Noto Sans CJK SC">
                <a:solidFill>
                  <a:srgbClr val="16A2B5"/>
                </a:solidFill>
                <a:latin typeface="Noto Sans CJK SC"/>
              </a:rPr>
              <a:t>02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179576" y="2249424"/>
            <a:ext cx="2212848" cy="585216"/>
          </a:xfrm>
          <a:prstGeom prst="rect">
            <a:avLst/>
          </a:prstGeom>
          <a:solidFill>
            <a:srgbClr val="F2F6FB"/>
          </a:solidFill>
          <a:ln w="8890">
            <a:solidFill>
              <a:srgbClr val="D8E1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271016" y="2368296"/>
            <a:ext cx="2048255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80" b="1" i="0" a:ea="Noto Sans CJK SC">
                <a:solidFill>
                  <a:srgbClr val="1C2A42"/>
                </a:solidFill>
                <a:latin typeface="Noto Sans CJK SC"/>
              </a:rPr>
              <a:t>Stock Level 突发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410712" y="2249424"/>
            <a:ext cx="1463040" cy="585216"/>
          </a:xfrm>
          <a:prstGeom prst="rect">
            <a:avLst/>
          </a:prstGeom>
          <a:solidFill>
            <a:srgbClr val="F2F6FB"/>
          </a:solidFill>
          <a:ln w="8890">
            <a:solidFill>
              <a:srgbClr val="D8E1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410712" y="2423160"/>
            <a:ext cx="14630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 i="0" a:ea="Noto Sans CJK SC">
                <a:solidFill>
                  <a:srgbClr val="16A2B5"/>
                </a:solidFill>
                <a:latin typeface="Noto Sans CJK SC"/>
              </a:rPr>
              <a:t>3800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892040" y="2249424"/>
            <a:ext cx="3090672" cy="585216"/>
          </a:xfrm>
          <a:prstGeom prst="rect">
            <a:avLst/>
          </a:prstGeom>
          <a:solidFill>
            <a:srgbClr val="F2F6FB"/>
          </a:solidFill>
          <a:ln w="8890">
            <a:solidFill>
              <a:srgbClr val="D8E1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983479" y="2368296"/>
            <a:ext cx="2926079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80" b="0" i="0" a:ea="Noto Sans CJK SC">
                <a:solidFill>
                  <a:srgbClr val="566882"/>
                </a:solidFill>
                <a:latin typeface="Noto Sans CJK SC"/>
              </a:rPr>
              <a:t>最近订单行 + 库存范围检查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001000" y="2249424"/>
            <a:ext cx="3401568" cy="585216"/>
          </a:xfrm>
          <a:prstGeom prst="rect">
            <a:avLst/>
          </a:prstGeom>
          <a:solidFill>
            <a:srgbClr val="F2F6FB"/>
          </a:solidFill>
          <a:ln w="8890">
            <a:solidFill>
              <a:srgbClr val="D8E1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092440" y="2368296"/>
            <a:ext cx="3236976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80" b="0" i="0" a:ea="Noto Sans CJK SC">
                <a:solidFill>
                  <a:srgbClr val="566882"/>
                </a:solidFill>
                <a:latin typeface="Noto Sans CJK SC"/>
              </a:rPr>
              <a:t>blks_read / hit · buffers_backend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75488" y="2880360"/>
            <a:ext cx="685800" cy="585216"/>
          </a:xfrm>
          <a:prstGeom prst="rect">
            <a:avLst/>
          </a:prstGeom>
          <a:solidFill>
            <a:srgbClr val="FFFFFF"/>
          </a:solidFill>
          <a:ln w="8890">
            <a:solidFill>
              <a:srgbClr val="D8E1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75488" y="3054096"/>
            <a:ext cx="685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50" b="1" i="0" a:ea="Noto Sans CJK SC">
                <a:solidFill>
                  <a:srgbClr val="E37E27"/>
                </a:solidFill>
                <a:latin typeface="Noto Sans CJK SC"/>
              </a:rPr>
              <a:t>03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179576" y="2880360"/>
            <a:ext cx="2212848" cy="585216"/>
          </a:xfrm>
          <a:prstGeom prst="rect">
            <a:avLst/>
          </a:prstGeom>
          <a:solidFill>
            <a:srgbClr val="FFFFFF"/>
          </a:solidFill>
          <a:ln w="8890">
            <a:solidFill>
              <a:srgbClr val="D8E1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271016" y="2999232"/>
            <a:ext cx="2048255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80" b="1" i="0" a:ea="Noto Sans CJK SC">
                <a:solidFill>
                  <a:srgbClr val="1C2A42"/>
                </a:solidFill>
                <a:latin typeface="Noto Sans CJK SC"/>
              </a:rPr>
              <a:t>Payment 高强度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410712" y="2880360"/>
            <a:ext cx="1463040" cy="585216"/>
          </a:xfrm>
          <a:prstGeom prst="rect">
            <a:avLst/>
          </a:prstGeom>
          <a:solidFill>
            <a:srgbClr val="FFFFFF"/>
          </a:solidFill>
          <a:ln w="8890">
            <a:solidFill>
              <a:srgbClr val="D8E1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410712" y="3054096"/>
            <a:ext cx="14630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 i="0" a:ea="Noto Sans CJK SC">
                <a:solidFill>
                  <a:srgbClr val="E37E27"/>
                </a:solidFill>
                <a:latin typeface="Noto Sans CJK SC"/>
              </a:rPr>
              <a:t>3350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892040" y="2880360"/>
            <a:ext cx="3090672" cy="585216"/>
          </a:xfrm>
          <a:prstGeom prst="rect">
            <a:avLst/>
          </a:prstGeom>
          <a:solidFill>
            <a:srgbClr val="FFFFFF"/>
          </a:solidFill>
          <a:ln w="8890">
            <a:solidFill>
              <a:srgbClr val="D8E1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983479" y="2999232"/>
            <a:ext cx="2926079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80" b="0" i="0" a:ea="Noto Sans CJK SC">
                <a:solidFill>
                  <a:srgbClr val="566882"/>
                </a:solidFill>
                <a:latin typeface="Noto Sans CJK SC"/>
              </a:rPr>
              <a:t>提交与 WAL 写入竞争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001000" y="2880360"/>
            <a:ext cx="3401568" cy="585216"/>
          </a:xfrm>
          <a:prstGeom prst="rect">
            <a:avLst/>
          </a:prstGeom>
          <a:solidFill>
            <a:srgbClr val="FFFFFF"/>
          </a:solidFill>
          <a:ln w="8890">
            <a:solidFill>
              <a:srgbClr val="D8E1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092440" y="2999232"/>
            <a:ext cx="3236976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80" b="0" i="0" a:ea="Noto Sans CJK SC">
                <a:solidFill>
                  <a:srgbClr val="566882"/>
                </a:solidFill>
                <a:latin typeface="Noto Sans CJK SC"/>
              </a:rPr>
              <a:t>xact_commit · checkpoint · fsync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75488" y="3511296"/>
            <a:ext cx="685800" cy="585216"/>
          </a:xfrm>
          <a:prstGeom prst="rect">
            <a:avLst/>
          </a:prstGeom>
          <a:solidFill>
            <a:srgbClr val="F2F6FB"/>
          </a:solidFill>
          <a:ln w="8890">
            <a:solidFill>
              <a:srgbClr val="D8E1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75488" y="3685032"/>
            <a:ext cx="685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50" b="1" i="0" a:ea="Noto Sans CJK SC">
                <a:solidFill>
                  <a:srgbClr val="7750BE"/>
                </a:solidFill>
                <a:latin typeface="Noto Sans CJK SC"/>
              </a:rPr>
              <a:t>04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179576" y="3511296"/>
            <a:ext cx="2212848" cy="585216"/>
          </a:xfrm>
          <a:prstGeom prst="rect">
            <a:avLst/>
          </a:prstGeom>
          <a:solidFill>
            <a:srgbClr val="F2F6FB"/>
          </a:solidFill>
          <a:ln w="8890">
            <a:solidFill>
              <a:srgbClr val="D8E1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271016" y="3630168"/>
            <a:ext cx="2048255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80" b="1" i="0" a:ea="Noto Sans CJK SC">
                <a:solidFill>
                  <a:srgbClr val="1C2A42"/>
                </a:solidFill>
                <a:latin typeface="Noto Sans CJK SC"/>
              </a:rPr>
              <a:t>Order Status 随机读 I/O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410712" y="3511296"/>
            <a:ext cx="1463040" cy="585216"/>
          </a:xfrm>
          <a:prstGeom prst="rect">
            <a:avLst/>
          </a:prstGeom>
          <a:solidFill>
            <a:srgbClr val="F2F6FB"/>
          </a:solidFill>
          <a:ln w="8890">
            <a:solidFill>
              <a:srgbClr val="D8E1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410712" y="3685032"/>
            <a:ext cx="14630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 i="0" a:ea="Noto Sans CJK SC">
                <a:solidFill>
                  <a:srgbClr val="7750BE"/>
                </a:solidFill>
                <a:latin typeface="Noto Sans CJK SC"/>
              </a:rPr>
              <a:t>5600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892040" y="3511296"/>
            <a:ext cx="3090672" cy="585216"/>
          </a:xfrm>
          <a:prstGeom prst="rect">
            <a:avLst/>
          </a:prstGeom>
          <a:solidFill>
            <a:srgbClr val="F2F6FB"/>
          </a:solidFill>
          <a:ln w="8890">
            <a:solidFill>
              <a:srgbClr val="D8E1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983479" y="3630168"/>
            <a:ext cx="2926079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80" b="0" i="0" a:ea="Noto Sans CJK SC">
                <a:solidFill>
                  <a:srgbClr val="566882"/>
                </a:solidFill>
                <a:latin typeface="Noto Sans CJK SC"/>
              </a:rPr>
              <a:t>更强随机 I/O 访问压力</a:t>
            </a:r>
          </a:p>
        </p:txBody>
      </p:sp>
      <p:sp>
        <p:nvSpPr>
          <p:cNvPr id="54" name="Rectangle 53"/>
          <p:cNvSpPr/>
          <p:nvPr/>
        </p:nvSpPr>
        <p:spPr>
          <a:xfrm>
            <a:off x="8001000" y="3511296"/>
            <a:ext cx="3401568" cy="585216"/>
          </a:xfrm>
          <a:prstGeom prst="rect">
            <a:avLst/>
          </a:prstGeom>
          <a:solidFill>
            <a:srgbClr val="F2F6FB"/>
          </a:solidFill>
          <a:ln w="8890">
            <a:solidFill>
              <a:srgbClr val="D8E1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092440" y="3630168"/>
            <a:ext cx="3236976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80" b="0" i="0" a:ea="Noto Sans CJK SC">
                <a:solidFill>
                  <a:srgbClr val="566882"/>
                </a:solidFill>
                <a:latin typeface="Noto Sans CJK SC"/>
              </a:rPr>
              <a:t>blks_read / hit · active_total</a:t>
            </a:r>
          </a:p>
        </p:txBody>
      </p:sp>
      <p:sp>
        <p:nvSpPr>
          <p:cNvPr id="56" name="Rectangle 55"/>
          <p:cNvSpPr/>
          <p:nvPr/>
        </p:nvSpPr>
        <p:spPr>
          <a:xfrm>
            <a:off x="475488" y="4142231"/>
            <a:ext cx="685800" cy="585216"/>
          </a:xfrm>
          <a:prstGeom prst="rect">
            <a:avLst/>
          </a:prstGeom>
          <a:solidFill>
            <a:srgbClr val="FFFFFF"/>
          </a:solidFill>
          <a:ln w="8890">
            <a:solidFill>
              <a:srgbClr val="D8E1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475488" y="4315968"/>
            <a:ext cx="685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50" b="1" i="0" a:ea="Noto Sans CJK SC">
                <a:solidFill>
                  <a:srgbClr val="1D9B6C"/>
                </a:solidFill>
                <a:latin typeface="Noto Sans CJK SC"/>
              </a:rPr>
              <a:t>05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179576" y="4142231"/>
            <a:ext cx="2212848" cy="585216"/>
          </a:xfrm>
          <a:prstGeom prst="rect">
            <a:avLst/>
          </a:prstGeom>
          <a:solidFill>
            <a:srgbClr val="FFFFFF"/>
          </a:solidFill>
          <a:ln w="8890">
            <a:solidFill>
              <a:srgbClr val="D8E1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1271016" y="4261103"/>
            <a:ext cx="2048255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80" b="1" i="0" a:ea="Noto Sans CJK SC">
                <a:solidFill>
                  <a:srgbClr val="1C2A42"/>
                </a:solidFill>
                <a:latin typeface="Noto Sans CJK SC"/>
              </a:rPr>
              <a:t>热点 Stock Level</a:t>
            </a:r>
          </a:p>
        </p:txBody>
      </p:sp>
      <p:sp>
        <p:nvSpPr>
          <p:cNvPr id="60" name="Rectangle 59"/>
          <p:cNvSpPr/>
          <p:nvPr/>
        </p:nvSpPr>
        <p:spPr>
          <a:xfrm>
            <a:off x="3410712" y="4142231"/>
            <a:ext cx="1463040" cy="585216"/>
          </a:xfrm>
          <a:prstGeom prst="rect">
            <a:avLst/>
          </a:prstGeom>
          <a:solidFill>
            <a:srgbClr val="FFFFFF"/>
          </a:solidFill>
          <a:ln w="8890">
            <a:solidFill>
              <a:srgbClr val="D8E1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3410712" y="4315968"/>
            <a:ext cx="14630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 i="0" a:ea="Noto Sans CJK SC">
                <a:solidFill>
                  <a:srgbClr val="1D9B6C"/>
                </a:solidFill>
                <a:latin typeface="Noto Sans CJK SC"/>
              </a:rPr>
              <a:t>3800</a:t>
            </a:r>
          </a:p>
        </p:txBody>
      </p:sp>
      <p:sp>
        <p:nvSpPr>
          <p:cNvPr id="62" name="Rectangle 61"/>
          <p:cNvSpPr/>
          <p:nvPr/>
        </p:nvSpPr>
        <p:spPr>
          <a:xfrm>
            <a:off x="4892040" y="4142231"/>
            <a:ext cx="3090672" cy="585216"/>
          </a:xfrm>
          <a:prstGeom prst="rect">
            <a:avLst/>
          </a:prstGeom>
          <a:solidFill>
            <a:srgbClr val="FFFFFF"/>
          </a:solidFill>
          <a:ln w="8890">
            <a:solidFill>
              <a:srgbClr val="D8E1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4983479" y="4261103"/>
            <a:ext cx="2926079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80" b="0" i="0" a:ea="Noto Sans CJK SC">
                <a:solidFill>
                  <a:srgbClr val="566882"/>
                </a:solidFill>
                <a:latin typeface="Noto Sans CJK SC"/>
              </a:rPr>
              <a:t>同一仓库/地区读热点</a:t>
            </a:r>
          </a:p>
        </p:txBody>
      </p:sp>
      <p:sp>
        <p:nvSpPr>
          <p:cNvPr id="64" name="Rectangle 63"/>
          <p:cNvSpPr/>
          <p:nvPr/>
        </p:nvSpPr>
        <p:spPr>
          <a:xfrm>
            <a:off x="8001000" y="4142231"/>
            <a:ext cx="3401568" cy="585216"/>
          </a:xfrm>
          <a:prstGeom prst="rect">
            <a:avLst/>
          </a:prstGeom>
          <a:solidFill>
            <a:srgbClr val="FFFFFF"/>
          </a:solidFill>
          <a:ln w="8890">
            <a:solidFill>
              <a:srgbClr val="D8E1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8092440" y="4261103"/>
            <a:ext cx="3236976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80" b="0" i="0" a:ea="Noto Sans CJK SC">
                <a:solidFill>
                  <a:srgbClr val="566882"/>
                </a:solidFill>
                <a:latin typeface="Noto Sans CJK SC"/>
              </a:rPr>
              <a:t>blks_read / hit · active_total</a:t>
            </a:r>
          </a:p>
        </p:txBody>
      </p:sp>
      <p:sp>
        <p:nvSpPr>
          <p:cNvPr id="66" name="Rectangle 65"/>
          <p:cNvSpPr/>
          <p:nvPr/>
        </p:nvSpPr>
        <p:spPr>
          <a:xfrm>
            <a:off x="475488" y="4773167"/>
            <a:ext cx="685800" cy="585216"/>
          </a:xfrm>
          <a:prstGeom prst="rect">
            <a:avLst/>
          </a:prstGeom>
          <a:solidFill>
            <a:srgbClr val="F2F6FB"/>
          </a:solidFill>
          <a:ln w="8890">
            <a:solidFill>
              <a:srgbClr val="D8E1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475488" y="4946903"/>
            <a:ext cx="685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50" b="1" i="0" a:ea="Noto Sans CJK SC">
                <a:solidFill>
                  <a:srgbClr val="D24E4E"/>
                </a:solidFill>
                <a:latin typeface="Noto Sans CJK SC"/>
              </a:rPr>
              <a:t>06</a:t>
            </a:r>
          </a:p>
        </p:txBody>
      </p:sp>
      <p:sp>
        <p:nvSpPr>
          <p:cNvPr id="68" name="Rectangle 67"/>
          <p:cNvSpPr/>
          <p:nvPr/>
        </p:nvSpPr>
        <p:spPr>
          <a:xfrm>
            <a:off x="1179576" y="4773167"/>
            <a:ext cx="2212848" cy="585216"/>
          </a:xfrm>
          <a:prstGeom prst="rect">
            <a:avLst/>
          </a:prstGeom>
          <a:solidFill>
            <a:srgbClr val="F2F6FB"/>
          </a:solidFill>
          <a:ln w="8890">
            <a:solidFill>
              <a:srgbClr val="D8E1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1271016" y="4892039"/>
            <a:ext cx="2048255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80" b="1" i="0" a:ea="Noto Sans CJK SC">
                <a:solidFill>
                  <a:srgbClr val="1C2A42"/>
                </a:solidFill>
                <a:latin typeface="Noto Sans CJK SC"/>
              </a:rPr>
              <a:t>热点 Payment</a:t>
            </a:r>
          </a:p>
        </p:txBody>
      </p:sp>
      <p:sp>
        <p:nvSpPr>
          <p:cNvPr id="70" name="Rectangle 69"/>
          <p:cNvSpPr/>
          <p:nvPr/>
        </p:nvSpPr>
        <p:spPr>
          <a:xfrm>
            <a:off x="3410712" y="4773167"/>
            <a:ext cx="1463040" cy="585216"/>
          </a:xfrm>
          <a:prstGeom prst="rect">
            <a:avLst/>
          </a:prstGeom>
          <a:solidFill>
            <a:srgbClr val="F2F6FB"/>
          </a:solidFill>
          <a:ln w="8890">
            <a:solidFill>
              <a:srgbClr val="D8E1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3410712" y="4946903"/>
            <a:ext cx="14630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 i="0" a:ea="Noto Sans CJK SC">
                <a:solidFill>
                  <a:srgbClr val="D24E4E"/>
                </a:solidFill>
                <a:latin typeface="Noto Sans CJK SC"/>
              </a:rPr>
              <a:t>1950</a:t>
            </a:r>
          </a:p>
        </p:txBody>
      </p:sp>
      <p:sp>
        <p:nvSpPr>
          <p:cNvPr id="72" name="Rectangle 71"/>
          <p:cNvSpPr/>
          <p:nvPr/>
        </p:nvSpPr>
        <p:spPr>
          <a:xfrm>
            <a:off x="4892040" y="4773167"/>
            <a:ext cx="3090672" cy="585216"/>
          </a:xfrm>
          <a:prstGeom prst="rect">
            <a:avLst/>
          </a:prstGeom>
          <a:solidFill>
            <a:srgbClr val="F2F6FB"/>
          </a:solidFill>
          <a:ln w="8890">
            <a:solidFill>
              <a:srgbClr val="D8E1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4983479" y="4892039"/>
            <a:ext cx="2926079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80" b="0" i="0" a:ea="Noto Sans CJK SC">
                <a:solidFill>
                  <a:srgbClr val="566882"/>
                </a:solidFill>
                <a:latin typeface="Noto Sans CJK SC"/>
              </a:rPr>
              <a:t>同一仓库/地区更新热点</a:t>
            </a:r>
          </a:p>
        </p:txBody>
      </p:sp>
      <p:sp>
        <p:nvSpPr>
          <p:cNvPr id="74" name="Rectangle 73"/>
          <p:cNvSpPr/>
          <p:nvPr/>
        </p:nvSpPr>
        <p:spPr>
          <a:xfrm>
            <a:off x="8001000" y="4773167"/>
            <a:ext cx="3401568" cy="585216"/>
          </a:xfrm>
          <a:prstGeom prst="rect">
            <a:avLst/>
          </a:prstGeom>
          <a:solidFill>
            <a:srgbClr val="F2F6FB"/>
          </a:solidFill>
          <a:ln w="8890">
            <a:solidFill>
              <a:srgbClr val="D8E1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8092440" y="4892039"/>
            <a:ext cx="3236976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80" b="0" i="0" a:ea="Noto Sans CJK SC">
                <a:solidFill>
                  <a:srgbClr val="566882"/>
                </a:solidFill>
                <a:latin typeface="Noto Sans CJK SC"/>
              </a:rPr>
              <a:t>lock_waits · xact_commit · fsync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475488" y="5577840"/>
            <a:ext cx="11228832" cy="658368"/>
          </a:xfrm>
          <a:prstGeom prst="roundRect">
            <a:avLst/>
          </a:prstGeom>
          <a:solidFill>
            <a:srgbClr val="E8F1FF"/>
          </a:solidFill>
          <a:ln w="8890">
            <a:solidFill>
              <a:srgbClr val="E8F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713232" y="5733288"/>
            <a:ext cx="8686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80" b="1" i="0" a:ea="Noto Sans CJK SC">
                <a:solidFill>
                  <a:srgbClr val="2770DC"/>
                </a:solidFill>
                <a:latin typeface="Noto Sans CJK SC"/>
              </a:rPr>
              <a:t>指标口径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1627632" y="5669280"/>
            <a:ext cx="971092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 a:ea="Noto Sans CJK SC">
                <a:solidFill>
                  <a:srgbClr val="1C2A42"/>
                </a:solidFill>
                <a:latin typeface="Noto Sans CJK SC"/>
              </a:rPr>
              <a:t>外部目标 TPS 只表示施压强度；真正要保护的是 tp_normal.sql 的目标业务 TPS。调优前后保持同等压力，才能把 TPS 回升归因于 SysInsight。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475488" y="6601968"/>
            <a:ext cx="1115568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60" b="0" i="0" a:ea="Noto Sans CJK SC">
                <a:solidFill>
                  <a:srgbClr val="566882"/>
                </a:solidFill>
                <a:latin typeface="Noto Sans CJK SC"/>
              </a:rPr>
              <a:t>当前固定速率目标来自 lab_controller.py；旧闭环实验的外部压力 TPS 不直接与新实验混比。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0F1D37"/>
          </a:solidFill>
          <a:ln w="8890">
            <a:solidFill>
              <a:srgbClr val="0F1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00584"/>
            <a:ext cx="36576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30" b="1" i="0" a:ea="Noto Sans CJK SC">
                <a:solidFill>
                  <a:srgbClr val="9FBFEC"/>
                </a:solidFill>
                <a:latin typeface="Noto Sans CJK SC"/>
              </a:rPr>
              <a:t>TP × AP  SCENARIO DESIGN  /  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" y="2743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300" b="1" i="0" a:ea="Noto Sans CJK SC">
                <a:solidFill>
                  <a:srgbClr val="FFFFFF"/>
                </a:solidFill>
                <a:latin typeface="Noto Sans CJK SC"/>
              </a:rPr>
              <a:t>TP 实验时序｜先建立退化，再在压力中验证恢复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93776" y="704088"/>
            <a:ext cx="109728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80" b="0" i="0" a:ea="Noto Sans CJK SC">
                <a:solidFill>
                  <a:srgbClr val="C1CFE4"/>
                </a:solidFill>
                <a:latin typeface="Noto Sans CJK SC"/>
              </a:rPr>
              <a:t>当前控制台采用“基线 → 持续压力”两阶段，不再增加撤压后的自然恢复阶段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75488" y="1417320"/>
            <a:ext cx="2514600" cy="1481328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8E1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75488" y="1417320"/>
            <a:ext cx="2514600" cy="91440"/>
          </a:xfrm>
          <a:prstGeom prst="rect">
            <a:avLst/>
          </a:prstGeom>
          <a:solidFill>
            <a:srgbClr val="2770DC"/>
          </a:solidFill>
          <a:ln w="8890">
            <a:solidFill>
              <a:srgbClr val="277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12648" y="1673352"/>
            <a:ext cx="17373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 a:ea="Noto Sans CJK SC">
                <a:solidFill>
                  <a:srgbClr val="1C2A42"/>
                </a:solidFill>
                <a:latin typeface="Noto Sans CJK SC"/>
              </a:rPr>
              <a:t>基线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231136" y="1645920"/>
            <a:ext cx="585216" cy="256032"/>
          </a:xfrm>
          <a:prstGeom prst="roundRect">
            <a:avLst/>
          </a:prstGeom>
          <a:solidFill>
            <a:srgbClr val="E8F1FF"/>
          </a:solidFill>
          <a:ln w="8890">
            <a:solidFill>
              <a:srgbClr val="E8F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258568" y="1668780"/>
            <a:ext cx="530352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20" b="1" i="0" a:ea="Noto Sans CJK SC">
                <a:solidFill>
                  <a:srgbClr val="2770DC"/>
                </a:solidFill>
                <a:latin typeface="Noto Sans CJK SC"/>
              </a:rPr>
              <a:t>60 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648" y="2084831"/>
            <a:ext cx="2212848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 a:ea="Noto Sans CJK SC">
                <a:solidFill>
                  <a:srgbClr val="566882"/>
                </a:solidFill>
                <a:latin typeface="Noto Sans CJK SC"/>
              </a:rPr>
              <a:t>tp_normal.sql
记录稳态业务 TPS</a:t>
            </a:r>
          </a:p>
        </p:txBody>
      </p:sp>
      <p:sp>
        <p:nvSpPr>
          <p:cNvPr id="12" name="Chevron 11"/>
          <p:cNvSpPr/>
          <p:nvPr/>
        </p:nvSpPr>
        <p:spPr>
          <a:xfrm>
            <a:off x="3099816" y="1975104"/>
            <a:ext cx="201168" cy="292608"/>
          </a:xfrm>
          <a:prstGeom prst="chevron">
            <a:avLst/>
          </a:prstGeom>
          <a:solidFill>
            <a:srgbClr val="B1BF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291840" y="1417320"/>
            <a:ext cx="2514600" cy="1481328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8E1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291840" y="1417320"/>
            <a:ext cx="2514600" cy="91440"/>
          </a:xfrm>
          <a:prstGeom prst="rect">
            <a:avLst/>
          </a:prstGeom>
          <a:solidFill>
            <a:srgbClr val="D24E4E"/>
          </a:solidFill>
          <a:ln w="8890">
            <a:solidFill>
              <a:srgbClr val="D24E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29000" y="1673352"/>
            <a:ext cx="17373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 a:ea="Noto Sans CJK SC">
                <a:solidFill>
                  <a:srgbClr val="1C2A42"/>
                </a:solidFill>
                <a:latin typeface="Noto Sans CJK SC"/>
              </a:rPr>
              <a:t>压力前半段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47488" y="1645920"/>
            <a:ext cx="585216" cy="256032"/>
          </a:xfrm>
          <a:prstGeom prst="roundRect">
            <a:avLst/>
          </a:prstGeom>
          <a:solidFill>
            <a:srgbClr val="FDEDED"/>
          </a:solidFill>
          <a:ln w="8890">
            <a:solidFill>
              <a:srgbClr val="FDED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74920" y="1668780"/>
            <a:ext cx="530352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20" b="1" i="0" a:ea="Noto Sans CJK SC">
                <a:solidFill>
                  <a:srgbClr val="D24E4E"/>
                </a:solidFill>
                <a:latin typeface="Noto Sans CJK SC"/>
              </a:rPr>
              <a:t>持续压力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29000" y="2084831"/>
            <a:ext cx="2212848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 a:ea="Noto Sans CJK SC">
                <a:solidFill>
                  <a:srgbClr val="566882"/>
                </a:solidFill>
                <a:latin typeface="Noto Sans CJK SC"/>
              </a:rPr>
              <a:t>启动外部 pgbench -R
等待告警 / perf / 检测</a:t>
            </a:r>
          </a:p>
        </p:txBody>
      </p:sp>
      <p:sp>
        <p:nvSpPr>
          <p:cNvPr id="19" name="Chevron 18"/>
          <p:cNvSpPr/>
          <p:nvPr/>
        </p:nvSpPr>
        <p:spPr>
          <a:xfrm>
            <a:off x="5916168" y="1975104"/>
            <a:ext cx="201168" cy="292608"/>
          </a:xfrm>
          <a:prstGeom prst="chevron">
            <a:avLst/>
          </a:prstGeom>
          <a:solidFill>
            <a:srgbClr val="B1BF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108192" y="1417320"/>
            <a:ext cx="2514600" cy="1481328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8E1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108192" y="1417320"/>
            <a:ext cx="2514600" cy="91440"/>
          </a:xfrm>
          <a:prstGeom prst="rect">
            <a:avLst/>
          </a:prstGeom>
          <a:solidFill>
            <a:srgbClr val="1D9B6C"/>
          </a:solidFill>
          <a:ln w="8890">
            <a:solidFill>
              <a:srgbClr val="1D9B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45352" y="1673352"/>
            <a:ext cx="17373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 a:ea="Noto Sans CJK SC">
                <a:solidFill>
                  <a:srgbClr val="1C2A42"/>
                </a:solidFill>
                <a:latin typeface="Noto Sans CJK SC"/>
              </a:rPr>
              <a:t>调优后半段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863840" y="1645920"/>
            <a:ext cx="585216" cy="256032"/>
          </a:xfrm>
          <a:prstGeom prst="roundRect">
            <a:avLst/>
          </a:prstGeom>
          <a:solidFill>
            <a:srgbClr val="E6F7EF"/>
          </a:solidFill>
          <a:ln w="8890">
            <a:solidFill>
              <a:srgbClr val="E6F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891271" y="1668780"/>
            <a:ext cx="530352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20" b="1" i="0" a:ea="Noto Sans CJK SC">
                <a:solidFill>
                  <a:srgbClr val="1D9B6C"/>
                </a:solidFill>
                <a:latin typeface="Noto Sans CJK SC"/>
              </a:rPr>
              <a:t>持续压力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45352" y="2084831"/>
            <a:ext cx="2212848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 a:ea="Noto Sans CJK SC">
                <a:solidFill>
                  <a:srgbClr val="566882"/>
                </a:solidFill>
                <a:latin typeface="Noto Sans CJK SC"/>
              </a:rPr>
              <a:t>临时应用候选
同压力复测业务 TPS</a:t>
            </a:r>
          </a:p>
        </p:txBody>
      </p:sp>
      <p:sp>
        <p:nvSpPr>
          <p:cNvPr id="26" name="Chevron 25"/>
          <p:cNvSpPr/>
          <p:nvPr/>
        </p:nvSpPr>
        <p:spPr>
          <a:xfrm>
            <a:off x="8732520" y="1975104"/>
            <a:ext cx="201168" cy="292608"/>
          </a:xfrm>
          <a:prstGeom prst="chevron">
            <a:avLst/>
          </a:prstGeom>
          <a:solidFill>
            <a:srgbClr val="B1BF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8924544" y="1417320"/>
            <a:ext cx="2514600" cy="1481328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8E1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924544" y="1417320"/>
            <a:ext cx="2514600" cy="91440"/>
          </a:xfrm>
          <a:prstGeom prst="rect">
            <a:avLst/>
          </a:prstGeom>
          <a:solidFill>
            <a:srgbClr val="7750BE"/>
          </a:solidFill>
          <a:ln w="8890">
            <a:solidFill>
              <a:srgbClr val="7750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061704" y="1673352"/>
            <a:ext cx="17373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 a:ea="Noto Sans CJK SC">
                <a:solidFill>
                  <a:srgbClr val="1C2A42"/>
                </a:solidFill>
                <a:latin typeface="Noto Sans CJK SC"/>
              </a:rPr>
              <a:t>结束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0680192" y="1645920"/>
            <a:ext cx="585216" cy="256032"/>
          </a:xfrm>
          <a:prstGeom prst="roundRect">
            <a:avLst/>
          </a:prstGeom>
          <a:solidFill>
            <a:srgbClr val="F1EBFD"/>
          </a:solidFill>
          <a:ln w="8890">
            <a:solidFill>
              <a:srgbClr val="F1EB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707624" y="1668780"/>
            <a:ext cx="530352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20" b="1" i="0" a:ea="Noto Sans CJK SC">
                <a:solidFill>
                  <a:srgbClr val="7750BE"/>
                </a:solidFill>
                <a:latin typeface="Noto Sans CJK SC"/>
              </a:rPr>
              <a:t>自动清理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061704" y="2084831"/>
            <a:ext cx="2212848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 a:ea="Noto Sans CJK SC">
                <a:solidFill>
                  <a:srgbClr val="566882"/>
                </a:solidFill>
                <a:latin typeface="Noto Sans CJK SC"/>
              </a:rPr>
              <a:t>TemporaryPostgresConfiguration
恢复配置、结束进程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75488" y="3337560"/>
            <a:ext cx="5394960" cy="2212848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8E1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31520" y="3575304"/>
            <a:ext cx="482803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 a:ea="Noto Sans CJK SC">
                <a:solidFill>
                  <a:srgbClr val="1C2A42"/>
                </a:solidFill>
                <a:latin typeface="Noto Sans CJK SC"/>
              </a:rPr>
              <a:t>SysInsight 在 TP 链路里做什么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9808" y="3968496"/>
            <a:ext cx="4782312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10" b="0" i="0" a:ea="Noto Sans CJK SC">
                <a:solidFill>
                  <a:srgbClr val="566882"/>
                </a:solidFill>
                <a:latin typeface="Noto Sans CJK SC"/>
              </a:rPr>
              <a:t>· Prometheus 告警确认：系统确实进入异常窗口
· perf + 原始异常函数提取：定位热点函数/资源关联
· GPT API 解析候选：从多个候选配置中选择方案
· 临时 session 配置应用：候选结束后恢复，不写死生产配置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309360" y="3337560"/>
            <a:ext cx="5394960" cy="2212848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8E1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565392" y="3575304"/>
            <a:ext cx="482803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 a:ea="Noto Sans CJK SC">
                <a:solidFill>
                  <a:srgbClr val="1C2A42"/>
                </a:solidFill>
                <a:latin typeface="Noto Sans CJK SC"/>
              </a:rPr>
              <a:t>TP 成功判定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83680" y="3968496"/>
            <a:ext cx="4782312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10" b="0" i="0" a:ea="Noto Sans CJK SC">
                <a:solidFill>
                  <a:srgbClr val="566882"/>
                </a:solidFill>
                <a:latin typeface="Noto Sans CJK SC"/>
              </a:rPr>
              <a:t>· 外部压力前后目标 TPS 在允许偏差内
· 压力阶段目标业务 TPS 明显下降
· 应用候选后，在同等压力下目标 TPS 回升
· 应用状态为 applied_and_restored，配置恢复成功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75488" y="6601968"/>
            <a:ext cx="1115568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60" b="0" i="0" a:ea="Noto Sans CJK SC">
                <a:solidFill>
                  <a:srgbClr val="566882"/>
                </a:solidFill>
                <a:latin typeface="Noto Sans CJK SC"/>
              </a:rPr>
              <a:t>实验结束时不会保留外部压力；但“是否调优有效”的证据只看压力仍存在时的目标业务 TPS。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0F1D37"/>
          </a:solidFill>
          <a:ln w="8890">
            <a:solidFill>
              <a:srgbClr val="0F1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00584"/>
            <a:ext cx="36576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30" b="1" i="0" a:ea="Noto Sans CJK SC">
                <a:solidFill>
                  <a:srgbClr val="9FBFEC"/>
                </a:solidFill>
                <a:latin typeface="Noto Sans CJK SC"/>
              </a:rPr>
              <a:t>TP × AP  SCENARIO DESIGN  /  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" y="2743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300" b="1" i="0" a:ea="Noto Sans CJK SC">
                <a:solidFill>
                  <a:srgbClr val="FFFFFF"/>
                </a:solidFill>
                <a:latin typeface="Noto Sans CJK SC"/>
              </a:rPr>
              <a:t>AP 场景现状｜99 条 TPC-DS SQL，按单条查询进入 DREAM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93776" y="704088"/>
            <a:ext cx="109728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80" b="0" i="0" a:ea="Noto Sans CJK SC">
                <a:solidFill>
                  <a:srgbClr val="C1CFE4"/>
                </a:solidFill>
                <a:latin typeface="Noto Sans CJK SC"/>
              </a:rPr>
              <a:t>AP 当前是“查询驱动”场景，不是像 TP 那样预设 6 组外部压力配方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75488" y="1188720"/>
            <a:ext cx="2331720" cy="9144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8E1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75488" y="1188720"/>
            <a:ext cx="73152" cy="914400"/>
          </a:xfrm>
          <a:prstGeom prst="rect">
            <a:avLst/>
          </a:prstGeom>
          <a:solidFill>
            <a:srgbClr val="7750BE"/>
          </a:solidFill>
          <a:ln w="8890">
            <a:solidFill>
              <a:srgbClr val="7750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316736"/>
            <a:ext cx="2057400" cy="3566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1" i="0" a:ea="Noto Sans CJK SC">
                <a:solidFill>
                  <a:srgbClr val="7750BE"/>
                </a:solidFill>
                <a:latin typeface="Noto Sans CJK SC"/>
              </a:rPr>
              <a:t>Q1–Q99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" y="1746504"/>
            <a:ext cx="2075687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40" b="0" i="0" a:ea="Noto Sans CJK SC">
                <a:solidFill>
                  <a:srgbClr val="566882"/>
                </a:solidFill>
                <a:latin typeface="Noto Sans CJK SC"/>
              </a:rPr>
              <a:t>TPC-DS SQL 目录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999232" y="1188720"/>
            <a:ext cx="2331720" cy="9144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8E1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999232" y="1188720"/>
            <a:ext cx="73152" cy="914400"/>
          </a:xfrm>
          <a:prstGeom prst="rect">
            <a:avLst/>
          </a:prstGeom>
          <a:solidFill>
            <a:srgbClr val="E37E27"/>
          </a:solidFill>
          <a:ln w="8890">
            <a:solidFill>
              <a:srgbClr val="E37E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163824" y="1316736"/>
            <a:ext cx="2057400" cy="3566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1" i="0" a:ea="Noto Sans CJK SC">
                <a:solidFill>
                  <a:srgbClr val="E37E27"/>
                </a:solidFill>
                <a:latin typeface="Noto Sans CJK SC"/>
              </a:rPr>
              <a:t>95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45536" y="1746504"/>
            <a:ext cx="2075687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40" b="0" i="0" a:ea="Noto Sans CJK SC">
                <a:solidFill>
                  <a:srgbClr val="566882"/>
                </a:solidFill>
                <a:latin typeface="Noto Sans CJK SC"/>
              </a:rPr>
              <a:t>允许单条执行的只读 SQL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522976" y="1188720"/>
            <a:ext cx="2331720" cy="9144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8E1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522976" y="1188720"/>
            <a:ext cx="73152" cy="914400"/>
          </a:xfrm>
          <a:prstGeom prst="rect">
            <a:avLst/>
          </a:prstGeom>
          <a:solidFill>
            <a:srgbClr val="1D9B6C"/>
          </a:solidFill>
          <a:ln w="8890">
            <a:solidFill>
              <a:srgbClr val="1D9B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687568" y="1316736"/>
            <a:ext cx="2057400" cy="3566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1" i="0" a:ea="Noto Sans CJK SC">
                <a:solidFill>
                  <a:srgbClr val="1D9B6C"/>
                </a:solidFill>
                <a:latin typeface="Noto Sans CJK SC"/>
              </a:rPr>
              <a:t>Q4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0" y="1746504"/>
            <a:ext cx="2075687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40" b="0" i="0" a:ea="Noto Sans CJK SC">
                <a:solidFill>
                  <a:srgbClr val="566882"/>
                </a:solidFill>
                <a:latin typeface="Noto Sans CJK SC"/>
              </a:rPr>
              <a:t>当前代码标记的推荐入口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46720" y="1188720"/>
            <a:ext cx="3648456" cy="9144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8E1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46720" y="1188720"/>
            <a:ext cx="73152" cy="914400"/>
          </a:xfrm>
          <a:prstGeom prst="rect">
            <a:avLst/>
          </a:prstGeom>
          <a:solidFill>
            <a:srgbClr val="D24E4E"/>
          </a:solidFill>
          <a:ln w="8890">
            <a:solidFill>
              <a:srgbClr val="D24E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11312" y="1316736"/>
            <a:ext cx="3374136" cy="3566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1" i="0" a:ea="Noto Sans CJK SC">
                <a:solidFill>
                  <a:srgbClr val="D24E4E"/>
                </a:solidFill>
                <a:latin typeface="Noto Sans CJK SC"/>
              </a:rPr>
              <a:t>Q8 ≠ 有效案例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93024" y="1746504"/>
            <a:ext cx="339242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40" b="0" i="0" a:ea="Noto Sans CJK SC">
                <a:solidFill>
                  <a:srgbClr val="566882"/>
                </a:solidFill>
                <a:latin typeface="Noto Sans CJK SC"/>
              </a:rPr>
              <a:t>当前空数据状态下不能证明优化收益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75488" y="2395728"/>
            <a:ext cx="6446520" cy="324612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8E1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9808" y="2651760"/>
            <a:ext cx="58064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 a:ea="Noto Sans CJK SC">
                <a:solidFill>
                  <a:srgbClr val="1C2A42"/>
                </a:solidFill>
                <a:latin typeface="Noto Sans CJK SC"/>
              </a:rPr>
              <a:t>AP 单 SQL 实验流程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49808" y="3090672"/>
            <a:ext cx="438912" cy="438912"/>
          </a:xfrm>
          <a:prstGeom prst="roundRect">
            <a:avLst/>
          </a:prstGeom>
          <a:solidFill>
            <a:srgbClr val="F1EBFD"/>
          </a:solidFill>
          <a:ln w="8890">
            <a:solidFill>
              <a:srgbClr val="F1EB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49808" y="3200400"/>
            <a:ext cx="43891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50" b="1" i="0" a:ea="Noto Sans CJK SC">
                <a:solidFill>
                  <a:srgbClr val="7750BE"/>
                </a:solidFill>
                <a:latin typeface="Noto Sans CJK SC"/>
              </a:rPr>
              <a:t>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89888" y="3118103"/>
            <a:ext cx="135331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 a:ea="Noto Sans CJK SC">
                <a:solidFill>
                  <a:srgbClr val="1C2A42"/>
                </a:solidFill>
                <a:latin typeface="Noto Sans CJK SC"/>
              </a:rPr>
              <a:t>选择 SQL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834640" y="3118103"/>
            <a:ext cx="376732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60" b="0" i="0" a:ea="Noto Sans CJK SC">
                <a:solidFill>
                  <a:srgbClr val="566882"/>
                </a:solidFill>
                <a:latin typeface="Noto Sans CJK SC"/>
              </a:rPr>
              <a:t>控制台从 99 条目录中选择一条只读 TPC-DS SQL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49808" y="3657600"/>
            <a:ext cx="438912" cy="438912"/>
          </a:xfrm>
          <a:prstGeom prst="roundRect">
            <a:avLst/>
          </a:prstGeom>
          <a:solidFill>
            <a:srgbClr val="FFF3E2"/>
          </a:solidFill>
          <a:ln w="8890">
            <a:solidFill>
              <a:srgbClr val="FFF3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49808" y="3767328"/>
            <a:ext cx="43891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50" b="1" i="0" a:ea="Noto Sans CJK SC">
                <a:solidFill>
                  <a:srgbClr val="E37E27"/>
                </a:solidFill>
                <a:latin typeface="Noto Sans CJK SC"/>
              </a:rPr>
              <a:t>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89888" y="3685032"/>
            <a:ext cx="135331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 a:ea="Noto Sans CJK SC">
                <a:solidFill>
                  <a:srgbClr val="1C2A42"/>
                </a:solidFill>
                <a:latin typeface="Noto Sans CJK SC"/>
              </a:rPr>
              <a:t>发送原 SQL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834640" y="3685032"/>
            <a:ext cx="376732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60" b="0" i="0" a:ea="Noto Sans CJK SC">
                <a:solidFill>
                  <a:srgbClr val="566882"/>
                </a:solidFill>
                <a:latin typeface="Noto Sans CJK SC"/>
              </a:rPr>
              <a:t>真实执行一次，记录 original SQL 的耗时和执行信息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49808" y="4224528"/>
            <a:ext cx="438912" cy="438912"/>
          </a:xfrm>
          <a:prstGeom prst="roundRect">
            <a:avLst/>
          </a:prstGeom>
          <a:solidFill>
            <a:srgbClr val="E8F1FF"/>
          </a:solidFill>
          <a:ln w="8890">
            <a:solidFill>
              <a:srgbClr val="E8F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49808" y="4334256"/>
            <a:ext cx="43891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50" b="1" i="0" a:ea="Noto Sans CJK SC">
                <a:solidFill>
                  <a:srgbClr val="2770DC"/>
                </a:solidFill>
                <a:latin typeface="Noto Sans CJK SC"/>
              </a:rPr>
              <a:t>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389888" y="4251960"/>
            <a:ext cx="135331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 a:ea="Noto Sans CJK SC">
                <a:solidFill>
                  <a:srgbClr val="1C2A42"/>
                </a:solidFill>
                <a:latin typeface="Noto Sans CJK SC"/>
              </a:rPr>
              <a:t>DREAM 异步分析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834640" y="4251960"/>
            <a:ext cx="376732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60" b="0" i="0" a:ea="Noto Sans CJK SC">
                <a:solidFill>
                  <a:srgbClr val="566882"/>
                </a:solidFill>
                <a:latin typeface="Noto Sans CJK SC"/>
              </a:rPr>
              <a:t>诊断、计划分析、记忆检索和 GPT API 生成候选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49808" y="4791456"/>
            <a:ext cx="438912" cy="438912"/>
          </a:xfrm>
          <a:prstGeom prst="roundRect">
            <a:avLst/>
          </a:prstGeom>
          <a:solidFill>
            <a:srgbClr val="E6F7EF"/>
          </a:solidFill>
          <a:ln w="8890">
            <a:solidFill>
              <a:srgbClr val="E6F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49808" y="4901184"/>
            <a:ext cx="43891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50" b="1" i="0" a:ea="Noto Sans CJK SC">
                <a:solidFill>
                  <a:srgbClr val="1D9B6C"/>
                </a:solidFill>
                <a:latin typeface="Noto Sans CJK SC"/>
              </a:rPr>
              <a:t>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389888" y="4818888"/>
            <a:ext cx="135331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 a:ea="Noto Sans CJK SC">
                <a:solidFill>
                  <a:srgbClr val="1C2A42"/>
                </a:solidFill>
                <a:latin typeface="Noto Sans CJK SC"/>
              </a:rPr>
              <a:t>再次执行优化结果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834640" y="4818888"/>
            <a:ext cx="376732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60" b="0" i="0" a:ea="Noto Sans CJK SC">
                <a:solidFill>
                  <a:srgbClr val="566882"/>
                </a:solidFill>
                <a:latin typeface="Noto Sans CJK SC"/>
              </a:rPr>
              <a:t>执行 rewrite SQL、session 建议或显式允许的 Hint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150608" y="2395728"/>
            <a:ext cx="4553712" cy="3246120"/>
          </a:xfrm>
          <a:prstGeom prst="roundRect">
            <a:avLst/>
          </a:prstGeom>
          <a:solidFill>
            <a:srgbClr val="FDEDED"/>
          </a:solidFill>
          <a:ln w="8890">
            <a:solidFill>
              <a:srgbClr val="F6C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424927" y="2651760"/>
            <a:ext cx="400507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 a:ea="Noto Sans CJK SC">
                <a:solidFill>
                  <a:srgbClr val="D24E4E"/>
                </a:solidFill>
                <a:latin typeface="Noto Sans CJK SC"/>
              </a:rPr>
              <a:t>当前 AP 验证边界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424927" y="3090672"/>
            <a:ext cx="3977639" cy="22128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90" b="0" i="0" a:ea="Noto Sans CJK SC">
                <a:solidFill>
                  <a:srgbClr val="1C2A42"/>
                </a:solidFill>
                <a:latin typeface="Noto Sans CJK SC"/>
              </a:rPr>
              <a:t>当前 tpcds schema 的事实表是空的。
因此：
· Q8 original 39.79 ms → optimized 39.46 ms，约 +0.83%
· SQL 本体执行不到 1 ms，主要耗时来自连接/进程开销
· DREAM 预测的 98% 不是数据库 replay 的实际收益
要得到可信 AP 效果，必须先装载 TPC-DS 数据、ANALYZE，再用多次执行的中位数筛选案例。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75488" y="6601968"/>
            <a:ext cx="1115568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60" b="0" i="0" a:ea="Noto Sans CJK SC">
                <a:solidFill>
                  <a:srgbClr val="566882"/>
                </a:solidFill>
                <a:latin typeface="Noto Sans CJK SC"/>
              </a:rPr>
              <a:t>结论：AP 链路已接通，但当前数据状态不适合把 Q8 或任意 Q1–Q99 查询称为“优化效果好”。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0F1D37"/>
          </a:solidFill>
          <a:ln w="8890">
            <a:solidFill>
              <a:srgbClr val="0F1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00584"/>
            <a:ext cx="36576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30" b="1" i="0" a:ea="Noto Sans CJK SC">
                <a:solidFill>
                  <a:srgbClr val="9FBFEC"/>
                </a:solidFill>
                <a:latin typeface="Noto Sans CJK SC"/>
              </a:rPr>
              <a:t>TP × AP  SCENARIO DESIGN  /  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" y="2743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300" b="1" i="0" a:ea="Noto Sans CJK SC">
                <a:solidFill>
                  <a:srgbClr val="FFFFFF"/>
                </a:solidFill>
                <a:latin typeface="Noto Sans CJK SC"/>
              </a:rPr>
              <a:t>TP 与 AP 对照｜同一平台，不同观测对象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93776" y="704088"/>
            <a:ext cx="109728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80" b="0" i="0" a:ea="Noto Sans CJK SC">
                <a:solidFill>
                  <a:srgbClr val="C1CFE4"/>
                </a:solidFill>
                <a:latin typeface="Noto Sans CJK SC"/>
              </a:rPr>
              <a:t>理解两类场景的差异，才能正确解释 Grafana 和实验控制台中的结果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1188720"/>
            <a:ext cx="1965960" cy="393192"/>
          </a:xfrm>
          <a:prstGeom prst="rect">
            <a:avLst/>
          </a:prstGeom>
          <a:solidFill>
            <a:srgbClr val="0F1D37"/>
          </a:solidFill>
          <a:ln w="8890">
            <a:solidFill>
              <a:srgbClr val="0F1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21208" y="1280160"/>
            <a:ext cx="1874519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69" b="1" i="0" a:ea="Noto Sans CJK SC">
                <a:solidFill>
                  <a:srgbClr val="FFFFFF"/>
                </a:solidFill>
                <a:latin typeface="Noto Sans CJK SC"/>
              </a:rPr>
              <a:t>维度</a:t>
            </a:r>
          </a:p>
        </p:txBody>
      </p:sp>
      <p:sp>
        <p:nvSpPr>
          <p:cNvPr id="8" name="Rectangle 7"/>
          <p:cNvSpPr/>
          <p:nvPr/>
        </p:nvSpPr>
        <p:spPr>
          <a:xfrm>
            <a:off x="2459736" y="1188720"/>
            <a:ext cx="3154680" cy="393192"/>
          </a:xfrm>
          <a:prstGeom prst="rect">
            <a:avLst/>
          </a:prstGeom>
          <a:solidFill>
            <a:srgbClr val="0F1D37"/>
          </a:solidFill>
          <a:ln w="8890">
            <a:solidFill>
              <a:srgbClr val="0F1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505456" y="1280160"/>
            <a:ext cx="306324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69" b="1" i="0" a:ea="Noto Sans CJK SC">
                <a:solidFill>
                  <a:srgbClr val="FFFFFF"/>
                </a:solidFill>
                <a:latin typeface="Noto Sans CJK SC"/>
              </a:rPr>
              <a:t>TP｜SysInsight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32704" y="1188720"/>
            <a:ext cx="3154680" cy="393192"/>
          </a:xfrm>
          <a:prstGeom prst="rect">
            <a:avLst/>
          </a:prstGeom>
          <a:solidFill>
            <a:srgbClr val="0F1D37"/>
          </a:solidFill>
          <a:ln w="8890">
            <a:solidFill>
              <a:srgbClr val="0F1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78424" y="1280160"/>
            <a:ext cx="306324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69" b="1" i="0" a:ea="Noto Sans CJK SC">
                <a:solidFill>
                  <a:srgbClr val="FFFFFF"/>
                </a:solidFill>
                <a:latin typeface="Noto Sans CJK SC"/>
              </a:rPr>
              <a:t>AP｜DREAM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805672" y="1188720"/>
            <a:ext cx="2953512" cy="393192"/>
          </a:xfrm>
          <a:prstGeom prst="rect">
            <a:avLst/>
          </a:prstGeom>
          <a:solidFill>
            <a:srgbClr val="0F1D37"/>
          </a:solidFill>
          <a:ln w="8890">
            <a:solidFill>
              <a:srgbClr val="0F1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851392" y="1280160"/>
            <a:ext cx="2862072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69" b="1" i="0" a:ea="Noto Sans CJK SC">
                <a:solidFill>
                  <a:srgbClr val="FFFFFF"/>
                </a:solidFill>
                <a:latin typeface="Noto Sans CJK SC"/>
              </a:rPr>
              <a:t>前端应该展示什么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75488" y="1627632"/>
            <a:ext cx="1965960" cy="640080"/>
          </a:xfrm>
          <a:prstGeom prst="rect">
            <a:avLst/>
          </a:prstGeom>
          <a:solidFill>
            <a:srgbClr val="FFFFFF"/>
          </a:solidFill>
          <a:ln w="8890">
            <a:solidFill>
              <a:srgbClr val="D8E1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6928" y="1737360"/>
            <a:ext cx="180136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65" b="1" i="0" a:ea="Noto Sans CJK SC">
                <a:solidFill>
                  <a:srgbClr val="1C2A42"/>
                </a:solidFill>
                <a:latin typeface="Noto Sans CJK SC"/>
              </a:rPr>
              <a:t>工作负载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459736" y="1627632"/>
            <a:ext cx="3154680" cy="640080"/>
          </a:xfrm>
          <a:prstGeom prst="rect">
            <a:avLst/>
          </a:prstGeom>
          <a:solidFill>
            <a:srgbClr val="FFFFFF"/>
          </a:solidFill>
          <a:ln w="8890">
            <a:solidFill>
              <a:srgbClr val="D8E1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551176" y="1737360"/>
            <a:ext cx="299008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65" b="0" i="0" a:ea="Noto Sans CJK SC">
                <a:solidFill>
                  <a:srgbClr val="566882"/>
                </a:solidFill>
                <a:latin typeface="Noto Sans CJK SC"/>
              </a:rPr>
              <a:t>TPCC 五类事务 + 外部 TPCC 压力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32704" y="1627632"/>
            <a:ext cx="3154680" cy="640080"/>
          </a:xfrm>
          <a:prstGeom prst="rect">
            <a:avLst/>
          </a:prstGeom>
          <a:solidFill>
            <a:srgbClr val="FFFFFF"/>
          </a:solidFill>
          <a:ln w="8890">
            <a:solidFill>
              <a:srgbClr val="D8E1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724144" y="1737360"/>
            <a:ext cx="299008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65" b="0" i="0" a:ea="Noto Sans CJK SC">
                <a:solidFill>
                  <a:srgbClr val="566882"/>
                </a:solidFill>
                <a:latin typeface="Noto Sans CJK SC"/>
              </a:rPr>
              <a:t>TPC-DS 单条复杂只读 SQL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805672" y="1627632"/>
            <a:ext cx="2953512" cy="640080"/>
          </a:xfrm>
          <a:prstGeom prst="rect">
            <a:avLst/>
          </a:prstGeom>
          <a:solidFill>
            <a:srgbClr val="FFFFFF"/>
          </a:solidFill>
          <a:ln w="8890">
            <a:solidFill>
              <a:srgbClr val="D8E1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897112" y="1737360"/>
            <a:ext cx="27889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65" b="0" i="0" a:ea="Noto Sans CJK SC">
                <a:solidFill>
                  <a:srgbClr val="566882"/>
                </a:solidFill>
                <a:latin typeface="Noto Sans CJK SC"/>
              </a:rPr>
              <a:t>场景/SQL 名称、压力目标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75488" y="2313432"/>
            <a:ext cx="1965960" cy="640080"/>
          </a:xfrm>
          <a:prstGeom prst="rect">
            <a:avLst/>
          </a:prstGeom>
          <a:solidFill>
            <a:srgbClr val="F2F6FB"/>
          </a:solidFill>
          <a:ln w="8890">
            <a:solidFill>
              <a:srgbClr val="D8E1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66928" y="2423160"/>
            <a:ext cx="180136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65" b="1" i="0" a:ea="Noto Sans CJK SC">
                <a:solidFill>
                  <a:srgbClr val="1C2A42"/>
                </a:solidFill>
                <a:latin typeface="Noto Sans CJK SC"/>
              </a:rPr>
              <a:t>主指标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459736" y="2313432"/>
            <a:ext cx="3154680" cy="640080"/>
          </a:xfrm>
          <a:prstGeom prst="rect">
            <a:avLst/>
          </a:prstGeom>
          <a:solidFill>
            <a:srgbClr val="F2F6FB"/>
          </a:solidFill>
          <a:ln w="8890">
            <a:solidFill>
              <a:srgbClr val="D8E1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551176" y="2423160"/>
            <a:ext cx="299008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65" b="0" i="0" a:ea="Noto Sans CJK SC">
                <a:solidFill>
                  <a:srgbClr val="566882"/>
                </a:solidFill>
                <a:latin typeface="Noto Sans CJK SC"/>
              </a:rPr>
              <a:t>目标业务 TPS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632704" y="2313432"/>
            <a:ext cx="3154680" cy="640080"/>
          </a:xfrm>
          <a:prstGeom prst="rect">
            <a:avLst/>
          </a:prstGeom>
          <a:solidFill>
            <a:srgbClr val="F2F6FB"/>
          </a:solidFill>
          <a:ln w="8890">
            <a:solidFill>
              <a:srgbClr val="D8E1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724144" y="2423160"/>
            <a:ext cx="299008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65" b="0" i="0" a:ea="Noto Sans CJK SC">
                <a:solidFill>
                  <a:srgbClr val="566882"/>
                </a:solidFill>
                <a:latin typeface="Noto Sans CJK SC"/>
              </a:rPr>
              <a:t>original / optimized 耗时 ms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805672" y="2313432"/>
            <a:ext cx="2953512" cy="640080"/>
          </a:xfrm>
          <a:prstGeom prst="rect">
            <a:avLst/>
          </a:prstGeom>
          <a:solidFill>
            <a:srgbClr val="F2F6FB"/>
          </a:solidFill>
          <a:ln w="8890">
            <a:solidFill>
              <a:srgbClr val="D8E1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897112" y="2423160"/>
            <a:ext cx="27889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65" b="0" i="0" a:ea="Noto Sans CJK SC">
                <a:solidFill>
                  <a:srgbClr val="566882"/>
                </a:solidFill>
                <a:latin typeface="Noto Sans CJK SC"/>
              </a:rPr>
              <a:t>同一图上显示调优前后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75488" y="2999232"/>
            <a:ext cx="1965960" cy="640080"/>
          </a:xfrm>
          <a:prstGeom prst="rect">
            <a:avLst/>
          </a:prstGeom>
          <a:solidFill>
            <a:srgbClr val="FFFFFF"/>
          </a:solidFill>
          <a:ln w="8890">
            <a:solidFill>
              <a:srgbClr val="D8E1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66928" y="3108960"/>
            <a:ext cx="180136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65" b="1" i="0" a:ea="Noto Sans CJK SC">
                <a:solidFill>
                  <a:srgbClr val="1C2A42"/>
                </a:solidFill>
                <a:latin typeface="Noto Sans CJK SC"/>
              </a:rPr>
              <a:t>触发方式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459736" y="2999232"/>
            <a:ext cx="3154680" cy="640080"/>
          </a:xfrm>
          <a:prstGeom prst="rect">
            <a:avLst/>
          </a:prstGeom>
          <a:solidFill>
            <a:srgbClr val="FFFFFF"/>
          </a:solidFill>
          <a:ln w="8890">
            <a:solidFill>
              <a:srgbClr val="D8E1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551176" y="3108960"/>
            <a:ext cx="299008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65" b="0" i="0" a:ea="Noto Sans CJK SC">
                <a:solidFill>
                  <a:srgbClr val="566882"/>
                </a:solidFill>
                <a:latin typeface="Noto Sans CJK SC"/>
              </a:rPr>
              <a:t>告警 → perf → SysInsight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632704" y="2999232"/>
            <a:ext cx="3154680" cy="640080"/>
          </a:xfrm>
          <a:prstGeom prst="rect">
            <a:avLst/>
          </a:prstGeom>
          <a:solidFill>
            <a:srgbClr val="FFFFFF"/>
          </a:solidFill>
          <a:ln w="8890">
            <a:solidFill>
              <a:srgbClr val="D8E1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724144" y="3108960"/>
            <a:ext cx="299008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65" b="0" i="0" a:ea="Noto Sans CJK SC">
                <a:solidFill>
                  <a:srgbClr val="566882"/>
                </a:solidFill>
                <a:latin typeface="Noto Sans CJK SC"/>
              </a:rPr>
              <a:t>慢 SQL / 手动发送 → DREAM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805672" y="2999232"/>
            <a:ext cx="2953512" cy="640080"/>
          </a:xfrm>
          <a:prstGeom prst="rect">
            <a:avLst/>
          </a:prstGeom>
          <a:solidFill>
            <a:srgbClr val="FFFFFF"/>
          </a:solidFill>
          <a:ln w="8890">
            <a:solidFill>
              <a:srgbClr val="D8E1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897112" y="3108960"/>
            <a:ext cx="27889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65" b="0" i="0" a:ea="Noto Sans CJK SC">
                <a:solidFill>
                  <a:srgbClr val="566882"/>
                </a:solidFill>
                <a:latin typeface="Noto Sans CJK SC"/>
              </a:rPr>
              <a:t>队列、阶段、耗时、错误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75488" y="3685032"/>
            <a:ext cx="1965960" cy="640080"/>
          </a:xfrm>
          <a:prstGeom prst="rect">
            <a:avLst/>
          </a:prstGeom>
          <a:solidFill>
            <a:srgbClr val="F2F6FB"/>
          </a:solidFill>
          <a:ln w="8890">
            <a:solidFill>
              <a:srgbClr val="D8E1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66928" y="3794760"/>
            <a:ext cx="180136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65" b="1" i="0" a:ea="Noto Sans CJK SC">
                <a:solidFill>
                  <a:srgbClr val="1C2A42"/>
                </a:solidFill>
                <a:latin typeface="Noto Sans CJK SC"/>
              </a:rPr>
              <a:t>优化对象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459736" y="3685032"/>
            <a:ext cx="3154680" cy="640080"/>
          </a:xfrm>
          <a:prstGeom prst="rect">
            <a:avLst/>
          </a:prstGeom>
          <a:solidFill>
            <a:srgbClr val="F2F6FB"/>
          </a:solidFill>
          <a:ln w="8890">
            <a:solidFill>
              <a:srgbClr val="D8E1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551176" y="3794760"/>
            <a:ext cx="299008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65" b="0" i="0" a:ea="Noto Sans CJK SC">
                <a:solidFill>
                  <a:srgbClr val="566882"/>
                </a:solidFill>
                <a:latin typeface="Noto Sans CJK SC"/>
              </a:rPr>
              <a:t>PostgreSQL 参数/会话设置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632704" y="3685032"/>
            <a:ext cx="3154680" cy="640080"/>
          </a:xfrm>
          <a:prstGeom prst="rect">
            <a:avLst/>
          </a:prstGeom>
          <a:solidFill>
            <a:srgbClr val="F2F6FB"/>
          </a:solidFill>
          <a:ln w="8890">
            <a:solidFill>
              <a:srgbClr val="D8E1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724144" y="3794760"/>
            <a:ext cx="299008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65" b="0" i="0" a:ea="Noto Sans CJK SC">
                <a:solidFill>
                  <a:srgbClr val="566882"/>
                </a:solidFill>
                <a:latin typeface="Noto Sans CJK SC"/>
              </a:rPr>
              <a:t>rewrite SQL / session / pg_hint_plan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805672" y="3685032"/>
            <a:ext cx="2953512" cy="640080"/>
          </a:xfrm>
          <a:prstGeom prst="rect">
            <a:avLst/>
          </a:prstGeom>
          <a:solidFill>
            <a:srgbClr val="F2F6FB"/>
          </a:solidFill>
          <a:ln w="8890">
            <a:solidFill>
              <a:srgbClr val="D8E1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897112" y="3794760"/>
            <a:ext cx="27889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65" b="0" i="0" a:ea="Noto Sans CJK SC">
                <a:solidFill>
                  <a:srgbClr val="566882"/>
                </a:solidFill>
                <a:latin typeface="Noto Sans CJK SC"/>
              </a:rPr>
              <a:t>候选状态、应用状态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75488" y="4370832"/>
            <a:ext cx="1965960" cy="640080"/>
          </a:xfrm>
          <a:prstGeom prst="rect">
            <a:avLst/>
          </a:prstGeom>
          <a:solidFill>
            <a:srgbClr val="FFFFFF"/>
          </a:solidFill>
          <a:ln w="8890">
            <a:solidFill>
              <a:srgbClr val="D8E1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66928" y="4480560"/>
            <a:ext cx="180136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65" b="1" i="0" a:ea="Noto Sans CJK SC">
                <a:solidFill>
                  <a:srgbClr val="1C2A42"/>
                </a:solidFill>
                <a:latin typeface="Noto Sans CJK SC"/>
              </a:rPr>
              <a:t>安全边界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459736" y="4370832"/>
            <a:ext cx="3154680" cy="640080"/>
          </a:xfrm>
          <a:prstGeom prst="rect">
            <a:avLst/>
          </a:prstGeom>
          <a:solidFill>
            <a:srgbClr val="FFFFFF"/>
          </a:solidFill>
          <a:ln w="8890">
            <a:solidFill>
              <a:srgbClr val="D8E1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551176" y="4480560"/>
            <a:ext cx="299008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65" b="0" i="0" a:ea="Noto Sans CJK SC">
                <a:solidFill>
                  <a:srgbClr val="566882"/>
                </a:solidFill>
                <a:latin typeface="Noto Sans CJK SC"/>
              </a:rPr>
              <a:t>临时应用、结束恢复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632704" y="4370832"/>
            <a:ext cx="3154680" cy="640080"/>
          </a:xfrm>
          <a:prstGeom prst="rect">
            <a:avLst/>
          </a:prstGeom>
          <a:solidFill>
            <a:srgbClr val="FFFFFF"/>
          </a:solidFill>
          <a:ln w="8890">
            <a:solidFill>
              <a:srgbClr val="D8E1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724144" y="4480560"/>
            <a:ext cx="299008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65" b="0" i="0" a:ea="Noto Sans CJK SC">
                <a:solidFill>
                  <a:srgbClr val="566882"/>
                </a:solidFill>
                <a:latin typeface="Noto Sans CJK SC"/>
              </a:rPr>
              <a:t>只读校验、Hint 显式发布</a:t>
            </a:r>
          </a:p>
        </p:txBody>
      </p:sp>
      <p:sp>
        <p:nvSpPr>
          <p:cNvPr id="52" name="Rectangle 51"/>
          <p:cNvSpPr/>
          <p:nvPr/>
        </p:nvSpPr>
        <p:spPr>
          <a:xfrm>
            <a:off x="8805672" y="4370832"/>
            <a:ext cx="2953512" cy="640080"/>
          </a:xfrm>
          <a:prstGeom prst="rect">
            <a:avLst/>
          </a:prstGeom>
          <a:solidFill>
            <a:srgbClr val="FFFFFF"/>
          </a:solidFill>
          <a:ln w="8890">
            <a:solidFill>
              <a:srgbClr val="D8E1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897112" y="4480560"/>
            <a:ext cx="27889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65" b="0" i="0" a:ea="Noto Sans CJK SC">
                <a:solidFill>
                  <a:srgbClr val="566882"/>
                </a:solidFill>
                <a:latin typeface="Noto Sans CJK SC"/>
              </a:rPr>
              <a:t>审计时间线与恢复结果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75488" y="5056632"/>
            <a:ext cx="1965960" cy="640080"/>
          </a:xfrm>
          <a:prstGeom prst="rect">
            <a:avLst/>
          </a:prstGeom>
          <a:solidFill>
            <a:srgbClr val="F2F6FB"/>
          </a:solidFill>
          <a:ln w="8890">
            <a:solidFill>
              <a:srgbClr val="D8E1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66928" y="5166360"/>
            <a:ext cx="180136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65" b="1" i="0" a:ea="Noto Sans CJK SC">
                <a:solidFill>
                  <a:srgbClr val="1C2A42"/>
                </a:solidFill>
                <a:latin typeface="Noto Sans CJK SC"/>
              </a:rPr>
              <a:t>当前限制</a:t>
            </a:r>
          </a:p>
        </p:txBody>
      </p:sp>
      <p:sp>
        <p:nvSpPr>
          <p:cNvPr id="56" name="Rectangle 55"/>
          <p:cNvSpPr/>
          <p:nvPr/>
        </p:nvSpPr>
        <p:spPr>
          <a:xfrm>
            <a:off x="2459736" y="5056632"/>
            <a:ext cx="3154680" cy="640080"/>
          </a:xfrm>
          <a:prstGeom prst="rect">
            <a:avLst/>
          </a:prstGeom>
          <a:solidFill>
            <a:srgbClr val="F2F6FB"/>
          </a:solidFill>
          <a:ln w="8890">
            <a:solidFill>
              <a:srgbClr val="D8E1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2551176" y="5166360"/>
            <a:ext cx="299008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65" b="0" i="0" a:ea="Noto Sans CJK SC">
                <a:solidFill>
                  <a:srgbClr val="566882"/>
                </a:solidFill>
                <a:latin typeface="Noto Sans CJK SC"/>
              </a:rPr>
              <a:t>部分历史场景需重新复测</a:t>
            </a:r>
          </a:p>
        </p:txBody>
      </p:sp>
      <p:sp>
        <p:nvSpPr>
          <p:cNvPr id="58" name="Rectangle 57"/>
          <p:cNvSpPr/>
          <p:nvPr/>
        </p:nvSpPr>
        <p:spPr>
          <a:xfrm>
            <a:off x="5632704" y="5056632"/>
            <a:ext cx="3154680" cy="640080"/>
          </a:xfrm>
          <a:prstGeom prst="rect">
            <a:avLst/>
          </a:prstGeom>
          <a:solidFill>
            <a:srgbClr val="F2F6FB"/>
          </a:solidFill>
          <a:ln w="8890">
            <a:solidFill>
              <a:srgbClr val="D8E1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5724144" y="5166360"/>
            <a:ext cx="299008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65" b="0" i="0" a:ea="Noto Sans CJK SC">
                <a:solidFill>
                  <a:srgbClr val="566882"/>
                </a:solidFill>
                <a:latin typeface="Noto Sans CJK SC"/>
              </a:rPr>
              <a:t>TPC-DS 事实表为空</a:t>
            </a:r>
          </a:p>
        </p:txBody>
      </p:sp>
      <p:sp>
        <p:nvSpPr>
          <p:cNvPr id="60" name="Rectangle 59"/>
          <p:cNvSpPr/>
          <p:nvPr/>
        </p:nvSpPr>
        <p:spPr>
          <a:xfrm>
            <a:off x="8805672" y="5056632"/>
            <a:ext cx="2953512" cy="640080"/>
          </a:xfrm>
          <a:prstGeom prst="rect">
            <a:avLst/>
          </a:prstGeom>
          <a:solidFill>
            <a:srgbClr val="F2F6FB"/>
          </a:solidFill>
          <a:ln w="8890">
            <a:solidFill>
              <a:srgbClr val="D8E1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8897112" y="5166360"/>
            <a:ext cx="27889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65" b="0" i="0" a:ea="Noto Sans CJK SC">
                <a:solidFill>
                  <a:srgbClr val="566882"/>
                </a:solidFill>
                <a:latin typeface="Noto Sans CJK SC"/>
              </a:rPr>
              <a:t>明确展示数据有效性警告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475488" y="5925312"/>
            <a:ext cx="11228832" cy="365760"/>
          </a:xfrm>
          <a:prstGeom prst="roundRect">
            <a:avLst/>
          </a:prstGeom>
          <a:solidFill>
            <a:srgbClr val="0F1D37"/>
          </a:solidFill>
          <a:ln w="8890">
            <a:solidFill>
              <a:srgbClr val="0F1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713232" y="6007608"/>
            <a:ext cx="107899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40" b="1" i="0" a:ea="Noto Sans CJK SC">
                <a:solidFill>
                  <a:srgbClr val="FFFFFF"/>
                </a:solidFill>
                <a:latin typeface="Noto Sans CJK SC"/>
              </a:rPr>
              <a:t>实验控制台：/lab　　Grafana：趋势与告警　　bridge：动作、队列、SQL 观测、应用/回滚审计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75488" y="6601968"/>
            <a:ext cx="1115568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60" b="0" i="0" a:ea="Noto Sans CJK SC">
                <a:solidFill>
                  <a:srgbClr val="566882"/>
                </a:solidFill>
                <a:latin typeface="Noto Sans CJK SC"/>
              </a:rPr>
              <a:t>展示重点：把“系统发生了什么、哪个环节做了什么、实际是否有效”放在同一条时间线上。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0F1D37"/>
          </a:solidFill>
          <a:ln w="8890">
            <a:solidFill>
              <a:srgbClr val="0F1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00584"/>
            <a:ext cx="36576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30" b="1" i="0" a:ea="Noto Sans CJK SC">
                <a:solidFill>
                  <a:srgbClr val="9FBFEC"/>
                </a:solidFill>
                <a:latin typeface="Noto Sans CJK SC"/>
              </a:rPr>
              <a:t>TP × AP  SCENARIO DESIGN  /  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" y="2743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300" b="1" i="0" a:ea="Noto Sans CJK SC">
                <a:solidFill>
                  <a:srgbClr val="FFFFFF"/>
                </a:solidFill>
                <a:latin typeface="Noto Sans CJK SC"/>
              </a:rPr>
              <a:t>当前设计结论与下一步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93776" y="704088"/>
            <a:ext cx="109728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80" b="0" i="0" a:ea="Noto Sans CJK SC">
                <a:solidFill>
                  <a:srgbClr val="C1CFE4"/>
                </a:solidFill>
                <a:latin typeface="Noto Sans CJK SC"/>
              </a:rPr>
              <a:t>先区分“链路已实现”和“性能案例有效”，再决定哪些场景进入正式演示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75488" y="1216152"/>
            <a:ext cx="5431536" cy="429768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8E1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75488" y="1216152"/>
            <a:ext cx="5431536" cy="91440"/>
          </a:xfrm>
          <a:prstGeom prst="rect">
            <a:avLst/>
          </a:prstGeom>
          <a:solidFill>
            <a:srgbClr val="2770DC"/>
          </a:solidFill>
          <a:ln w="8890">
            <a:solidFill>
              <a:srgbClr val="277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1499616"/>
            <a:ext cx="48463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 a:ea="Noto Sans CJK SC">
                <a:solidFill>
                  <a:srgbClr val="1C2A42"/>
                </a:solidFill>
                <a:latin typeface="Noto Sans CJK SC"/>
              </a:rPr>
              <a:t>TP｜当前可用设计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98848" y="1499616"/>
            <a:ext cx="1051560" cy="256032"/>
          </a:xfrm>
          <a:prstGeom prst="roundRect">
            <a:avLst/>
          </a:prstGeom>
          <a:solidFill>
            <a:srgbClr val="E6F7EF"/>
          </a:solidFill>
          <a:ln w="8890">
            <a:solidFill>
              <a:srgbClr val="E6F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26280" y="1522475"/>
            <a:ext cx="996695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70" b="1" i="0" a:ea="Noto Sans CJK SC">
                <a:solidFill>
                  <a:srgbClr val="1D9B6C"/>
                </a:solidFill>
                <a:latin typeface="Noto Sans CJK SC"/>
              </a:rPr>
              <a:t>链路完整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" y="2011680"/>
            <a:ext cx="4681728" cy="2240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 a:ea="Noto Sans CJK SC">
                <a:solidFill>
                  <a:srgbClr val="566882"/>
                </a:solidFill>
                <a:latin typeface="Noto Sans CJK SC"/>
              </a:rPr>
              <a:t>· 代码场景库 27 个，控制台当前聚焦 6 个
· 正常业务是 tp_normal.sql；外部压力为固定速率 pgbench
· SysInsight 负责告警、perf、候选配置和压力下复测
· TemporaryPostgresConfiguration 负责临时应用与恢复
· 优先展示压力下 TPS 前后对比，不把外部 TPS 当业务 TPS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9808" y="4535424"/>
            <a:ext cx="4828032" cy="603504"/>
          </a:xfrm>
          <a:prstGeom prst="roundRect">
            <a:avLst/>
          </a:prstGeom>
          <a:solidFill>
            <a:srgbClr val="E8F1FF"/>
          </a:solidFill>
          <a:ln w="8890">
            <a:solidFill>
              <a:srgbClr val="E8F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41832" y="4681728"/>
            <a:ext cx="4443984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90" b="1" i="0" a:ea="Noto Sans CJK SC">
                <a:solidFill>
                  <a:srgbClr val="2770DC"/>
                </a:solidFill>
                <a:latin typeface="Noto Sans CJK SC"/>
              </a:rPr>
              <a:t>演示建议：使用当前 6 个 focus 场景；历史达标结果仍需在当前状态复测后再做结论。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72784" y="1216152"/>
            <a:ext cx="5431536" cy="429768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8E1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72784" y="1216152"/>
            <a:ext cx="5431536" cy="91440"/>
          </a:xfrm>
          <a:prstGeom prst="rect">
            <a:avLst/>
          </a:prstGeom>
          <a:solidFill>
            <a:srgbClr val="7750BE"/>
          </a:solidFill>
          <a:ln w="8890">
            <a:solidFill>
              <a:srgbClr val="7750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47104" y="1499616"/>
            <a:ext cx="48463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 a:ea="Noto Sans CJK SC">
                <a:solidFill>
                  <a:srgbClr val="1C2A42"/>
                </a:solidFill>
                <a:latin typeface="Noto Sans CJK SC"/>
              </a:rPr>
              <a:t>AP｜当前链路已接通，数据需补齐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314432" y="1499616"/>
            <a:ext cx="1097280" cy="256032"/>
          </a:xfrm>
          <a:prstGeom prst="roundRect">
            <a:avLst/>
          </a:prstGeom>
          <a:solidFill>
            <a:srgbClr val="FDEDED"/>
          </a:solidFill>
          <a:ln w="8890">
            <a:solidFill>
              <a:srgbClr val="FDED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341863" y="1522475"/>
            <a:ext cx="1042415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1" i="0" a:ea="Noto Sans CJK SC">
                <a:solidFill>
                  <a:srgbClr val="D24E4E"/>
                </a:solidFill>
                <a:latin typeface="Noto Sans CJK SC"/>
              </a:rPr>
              <a:t>需先恢复数据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65392" y="2011680"/>
            <a:ext cx="4681728" cy="2240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 a:ea="Noto Sans CJK SC">
                <a:solidFill>
                  <a:srgbClr val="566882"/>
                </a:solidFill>
                <a:latin typeface="Noto Sans CJK SC"/>
              </a:rPr>
              <a:t>· SQL 目录 99 条，其中 95 条可单条只读执行
· DREAM 已支持原 SQL → 异步分析 → optimized replay
· Q4 是当前代码标记的推荐入口，Q8 当前不具备有效收益证明
· 当前 tpcds 事实表为空，执行时间被连接开销主导
· 下一步：装载 TPC-DS SF1 → ANALYZE → 重复测量 → 筛选案例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47104" y="4535424"/>
            <a:ext cx="4828032" cy="603504"/>
          </a:xfrm>
          <a:prstGeom prst="roundRect">
            <a:avLst/>
          </a:prstGeom>
          <a:solidFill>
            <a:srgbClr val="F1EBFD"/>
          </a:solidFill>
          <a:ln w="8890">
            <a:solidFill>
              <a:srgbClr val="F1EB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739128" y="4681728"/>
            <a:ext cx="4443984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90" b="1" i="0" a:ea="Noto Sans CJK SC">
                <a:solidFill>
                  <a:srgbClr val="7750BE"/>
                </a:solidFill>
                <a:latin typeface="Noto Sans CJK SC"/>
              </a:rPr>
              <a:t>筛选标准：结果正确 + 多次运行中位数稳定 + 实测收益，而不是只看 DREAM 预测值。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75488" y="5806440"/>
            <a:ext cx="11228832" cy="539496"/>
          </a:xfrm>
          <a:prstGeom prst="roundRect">
            <a:avLst/>
          </a:prstGeom>
          <a:solidFill>
            <a:srgbClr val="0F1D37"/>
          </a:solidFill>
          <a:ln w="8890">
            <a:solidFill>
              <a:srgbClr val="0F1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13232" y="5943600"/>
            <a:ext cx="107899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40" b="1" i="0" a:ea="Noto Sans CJK SC">
                <a:solidFill>
                  <a:srgbClr val="FFFFFF"/>
                </a:solidFill>
                <a:latin typeface="Noto Sans CJK SC"/>
              </a:rPr>
              <a:t>最终目标：TP 证明系统在并发压力中可恢复；AP 证明复杂 SQL 在真实数据上可加速；两者都要由实际数据库执行结果闭环。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5488" y="6601968"/>
            <a:ext cx="1115568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60" b="0" i="0" a:ea="Noto Sans CJK SC">
                <a:solidFill>
                  <a:srgbClr val="566882"/>
                </a:solidFill>
                <a:latin typeface="Noto Sans CJK SC"/>
              </a:rPr>
              <a:t>文件依据：tpcc_transaction_cases.py、lab_controller.py、TPCC场景验证报告.md、DREAM TPC-DS SQL catalog。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TP × AP 场景设计</dc:title>
  <dc:subject>SysInsight 与 DREAM 当前实验场景、链路和验证边界</dc:subject>
  <dc:creator>Codex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